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83" r:id="rId14"/>
    <p:sldId id="267" r:id="rId15"/>
    <p:sldId id="268" r:id="rId16"/>
    <p:sldId id="285" r:id="rId17"/>
    <p:sldId id="286" r:id="rId18"/>
    <p:sldId id="287" r:id="rId19"/>
    <p:sldId id="288" r:id="rId20"/>
    <p:sldId id="289" r:id="rId21"/>
    <p:sldId id="290" r:id="rId22"/>
    <p:sldId id="269" r:id="rId23"/>
    <p:sldId id="270" r:id="rId24"/>
    <p:sldId id="271" r:id="rId25"/>
    <p:sldId id="272" r:id="rId26"/>
    <p:sldId id="284" r:id="rId27"/>
    <p:sldId id="273" r:id="rId28"/>
    <p:sldId id="274" r:id="rId29"/>
    <p:sldId id="280" r:id="rId30"/>
    <p:sldId id="281" r:id="rId31"/>
    <p:sldId id="275" r:id="rId32"/>
    <p:sldId id="276" r:id="rId33"/>
    <p:sldId id="277" r:id="rId34"/>
    <p:sldId id="278" r:id="rId35"/>
    <p:sldId id="279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A6E1AE-5CCD-4C3B-98FC-328A10B10C3D}">
  <a:tblStyle styleId="{8EA6E1AE-5CCD-4C3B-98FC-328A10B10C3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3B7B46B-CAE9-4DFD-B6E0-7027480E5ED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A3B0F86-60E2-4D67-AF58-C098A416A69F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cbde389e2_2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7cbde389e2_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cbde389e2_2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7cbde389e2_2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fd16893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7fd16893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fd168934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7fd168934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fd168934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7fd168934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fd1689346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7fd168934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d168934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7fd168934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d1689346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7fd168934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03d7b19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803d7b19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fd16893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184" name="Google Shape;184;g37fd16893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fd168934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7fd168934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F24CB8D0-2D9C-CD0F-431E-EF02BD4A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fd1689346_0_21:notes">
            <a:extLst>
              <a:ext uri="{FF2B5EF4-FFF2-40B4-BE49-F238E27FC236}">
                <a16:creationId xmlns:a16="http://schemas.microsoft.com/office/drawing/2014/main" id="{4512C679-58D3-0F16-17C8-F3659D35C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7fd1689346_0_21:notes">
            <a:extLst>
              <a:ext uri="{FF2B5EF4-FFF2-40B4-BE49-F238E27FC236}">
                <a16:creationId xmlns:a16="http://schemas.microsoft.com/office/drawing/2014/main" id="{861DC405-33A2-3F69-6CBA-D7A0781C02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5608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F24CB8D0-2D9C-CD0F-431E-EF02BD4A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fd1689346_0_21:notes">
            <a:extLst>
              <a:ext uri="{FF2B5EF4-FFF2-40B4-BE49-F238E27FC236}">
                <a16:creationId xmlns:a16="http://schemas.microsoft.com/office/drawing/2014/main" id="{4512C679-58D3-0F16-17C8-F3659D35C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7fd1689346_0_21:notes">
            <a:extLst>
              <a:ext uri="{FF2B5EF4-FFF2-40B4-BE49-F238E27FC236}">
                <a16:creationId xmlns:a16="http://schemas.microsoft.com/office/drawing/2014/main" id="{861DC405-33A2-3F69-6CBA-D7A0781C02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3133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fd1689346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46" name="Google Shape;246;g37fd1689346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03d7b19f2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92" name="Google Shape;292;g3803d7b19f2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09aac32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92" name="Google Shape;292;g3809aac32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09aac324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99" name="Google Shape;299;g3809aac324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DA36B8D2-082C-E817-BD1D-5B431AE16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09aac3241_0_97:notes">
            <a:extLst>
              <a:ext uri="{FF2B5EF4-FFF2-40B4-BE49-F238E27FC236}">
                <a16:creationId xmlns:a16="http://schemas.microsoft.com/office/drawing/2014/main" id="{7FA05955-1126-DD29-F3F5-CA589F36F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99" name="Google Shape;299;g3809aac3241_0_97:notes">
            <a:extLst>
              <a:ext uri="{FF2B5EF4-FFF2-40B4-BE49-F238E27FC236}">
                <a16:creationId xmlns:a16="http://schemas.microsoft.com/office/drawing/2014/main" id="{7B75797C-52E9-61C7-358B-5C17D85BB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5717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ADE69209-3588-E71F-53F2-2FD7B9B7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09aac3241_0_97:notes">
            <a:extLst>
              <a:ext uri="{FF2B5EF4-FFF2-40B4-BE49-F238E27FC236}">
                <a16:creationId xmlns:a16="http://schemas.microsoft.com/office/drawing/2014/main" id="{5938F5C0-19D2-4B53-4BF8-C1F027EC8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99" name="Google Shape;299;g3809aac3241_0_97:notes">
            <a:extLst>
              <a:ext uri="{FF2B5EF4-FFF2-40B4-BE49-F238E27FC236}">
                <a16:creationId xmlns:a16="http://schemas.microsoft.com/office/drawing/2014/main" id="{F6F42F23-5FD5-D97D-8AB5-847B156F7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545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A7CB70D-9574-D4A5-FF29-DBC85A2E9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09aac3241_0_97:notes">
            <a:extLst>
              <a:ext uri="{FF2B5EF4-FFF2-40B4-BE49-F238E27FC236}">
                <a16:creationId xmlns:a16="http://schemas.microsoft.com/office/drawing/2014/main" id="{E779D11F-3233-4FFC-1C57-A946690E8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99" name="Google Shape;299;g3809aac3241_0_97:notes">
            <a:extLst>
              <a:ext uri="{FF2B5EF4-FFF2-40B4-BE49-F238E27FC236}">
                <a16:creationId xmlns:a16="http://schemas.microsoft.com/office/drawing/2014/main" id="{B5B3E432-0F90-91E4-5A13-5F5B4CD84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8326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4D6E3A3E-A321-E237-5FFB-FC4B279A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09aac3241_0_97:notes">
            <a:extLst>
              <a:ext uri="{FF2B5EF4-FFF2-40B4-BE49-F238E27FC236}">
                <a16:creationId xmlns:a16="http://schemas.microsoft.com/office/drawing/2014/main" id="{1AC41427-FBE5-93DA-79A6-A6FEB89B2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99" name="Google Shape;299;g3809aac3241_0_97:notes">
            <a:extLst>
              <a:ext uri="{FF2B5EF4-FFF2-40B4-BE49-F238E27FC236}">
                <a16:creationId xmlns:a16="http://schemas.microsoft.com/office/drawing/2014/main" id="{9DCF2959-FF16-B51C-7366-970E2C399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22225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7fd1689346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7fd1689346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fd1689346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7fd1689346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fd1689346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7fd1689346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03d7b19f2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803d7b19f2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E6714EE2-CE98-41D1-1D9D-6D9BFB9E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03d7b19f2_2_40:notes">
            <a:extLst>
              <a:ext uri="{FF2B5EF4-FFF2-40B4-BE49-F238E27FC236}">
                <a16:creationId xmlns:a16="http://schemas.microsoft.com/office/drawing/2014/main" id="{DE7BC251-7FCC-61FC-4BBA-20FBB4EE2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803d7b19f2_2_40:notes">
            <a:extLst>
              <a:ext uri="{FF2B5EF4-FFF2-40B4-BE49-F238E27FC236}">
                <a16:creationId xmlns:a16="http://schemas.microsoft.com/office/drawing/2014/main" id="{8CF1FF91-8681-DA94-2C6D-1A15920B2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21527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803d7b19f2_2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803d7b19f2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03d7b19f2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803d7b19f2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933C41E5-0B5C-9314-B208-D0736474D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03d7b19f2_2_87:notes">
            <a:extLst>
              <a:ext uri="{FF2B5EF4-FFF2-40B4-BE49-F238E27FC236}">
                <a16:creationId xmlns:a16="http://schemas.microsoft.com/office/drawing/2014/main" id="{46BC03F7-BE0C-55C9-C9CA-957548761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803d7b19f2_2_87:notes">
            <a:extLst>
              <a:ext uri="{FF2B5EF4-FFF2-40B4-BE49-F238E27FC236}">
                <a16:creationId xmlns:a16="http://schemas.microsoft.com/office/drawing/2014/main" id="{9F7A528E-7D55-AD0A-44EE-77399214C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71966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D4F58EE5-0706-DB9B-07A3-81AC8F13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03d7b19f2_2_87:notes">
            <a:extLst>
              <a:ext uri="{FF2B5EF4-FFF2-40B4-BE49-F238E27FC236}">
                <a16:creationId xmlns:a16="http://schemas.microsoft.com/office/drawing/2014/main" id="{98FD4456-EF71-D20E-6615-A8618BBF8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803d7b19f2_2_87:notes">
            <a:extLst>
              <a:ext uri="{FF2B5EF4-FFF2-40B4-BE49-F238E27FC236}">
                <a16:creationId xmlns:a16="http://schemas.microsoft.com/office/drawing/2014/main" id="{86FF3657-B9F7-E153-476D-902A448A6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69099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fd1689346_0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7fd1689346_0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7fd1689346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37fd1689346_0_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fd1689346_0_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g37fd1689346_0_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fd1689346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g37fd1689346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fd1689346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g37fd1689346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53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2547092" y="841772"/>
            <a:ext cx="6216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961667" y="3220271"/>
            <a:ext cx="53868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03546" y="0"/>
            <a:ext cx="2340000" cy="5143501"/>
          </a:xfrm>
          <a:prstGeom prst="flowChartOnlineStora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745" y="1062122"/>
            <a:ext cx="1800000" cy="13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3">
            <a:alphaModFix/>
          </a:blip>
          <a:srcRect l="6089" t="6754" r="6267" b="6489"/>
          <a:stretch/>
        </p:blipFill>
        <p:spPr>
          <a:xfrm>
            <a:off x="211524" y="3009557"/>
            <a:ext cx="1363829" cy="135000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28650" y="5463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28650" y="993531"/>
            <a:ext cx="7886700" cy="3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628650" y="564199"/>
            <a:ext cx="3886200" cy="4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629150" y="564199"/>
            <a:ext cx="3886200" cy="4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29842" y="585275"/>
            <a:ext cx="3868200" cy="20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29150" y="585275"/>
            <a:ext cx="3887400" cy="20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629842" y="2680774"/>
            <a:ext cx="3868200" cy="20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4629150" y="2680775"/>
            <a:ext cx="3887400" cy="20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629841" y="597876"/>
            <a:ext cx="29493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3716215" y="573517"/>
            <a:ext cx="48003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3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7"/>
          <p:cNvSpPr>
            <a:spLocks noGrp="1"/>
          </p:cNvSpPr>
          <p:nvPr>
            <p:ph type="chart" idx="2"/>
          </p:nvPr>
        </p:nvSpPr>
        <p:spPr>
          <a:xfrm>
            <a:off x="4663440" y="593788"/>
            <a:ext cx="4242900" cy="4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628650" y="582238"/>
            <a:ext cx="3861000" cy="5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628650" y="1195754"/>
            <a:ext cx="3861000" cy="3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>
            <a:spLocks noGrp="1"/>
          </p:cNvSpPr>
          <p:nvPr>
            <p:ph type="media" idx="2"/>
          </p:nvPr>
        </p:nvSpPr>
        <p:spPr>
          <a:xfrm>
            <a:off x="628650" y="685372"/>
            <a:ext cx="1712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23888" y="561339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623888" y="966339"/>
            <a:ext cx="78867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28650" y="5463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628650" y="1028700"/>
            <a:ext cx="3886200" cy="3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4629150" y="1028700"/>
            <a:ext cx="3886200" cy="3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29841" y="563989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629842" y="988313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2"/>
          </p:nvPr>
        </p:nvSpPr>
        <p:spPr>
          <a:xfrm>
            <a:off x="629842" y="1625570"/>
            <a:ext cx="38682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3"/>
          </p:nvPr>
        </p:nvSpPr>
        <p:spPr>
          <a:xfrm>
            <a:off x="4629150" y="988313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4"/>
          </p:nvPr>
        </p:nvSpPr>
        <p:spPr>
          <a:xfrm>
            <a:off x="4629150" y="1625570"/>
            <a:ext cx="38874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628650" y="5463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629841" y="597876"/>
            <a:ext cx="29493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>
            <a:spLocks noGrp="1"/>
          </p:cNvSpPr>
          <p:nvPr>
            <p:ph type="pic" idx="2"/>
          </p:nvPr>
        </p:nvSpPr>
        <p:spPr>
          <a:xfrm>
            <a:off x="3692769" y="591101"/>
            <a:ext cx="4823700" cy="4042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30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628650" y="5463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 rot="5400000">
            <a:off x="2752350" y="-1130169"/>
            <a:ext cx="36393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 rot="5400000">
            <a:off x="5525250" y="1642753"/>
            <a:ext cx="40086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1"/>
          </p:nvPr>
        </p:nvSpPr>
        <p:spPr>
          <a:xfrm rot="5400000">
            <a:off x="1524675" y="-271847"/>
            <a:ext cx="40086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body" idx="1"/>
          </p:nvPr>
        </p:nvSpPr>
        <p:spPr>
          <a:xfrm>
            <a:off x="628650" y="564199"/>
            <a:ext cx="3886200" cy="4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2"/>
          </p:nvPr>
        </p:nvSpPr>
        <p:spPr>
          <a:xfrm>
            <a:off x="4629150" y="564199"/>
            <a:ext cx="3886200" cy="4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629841" y="566411"/>
            <a:ext cx="29493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3739662" y="566412"/>
            <a:ext cx="4776900" cy="40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4pPr>
            <a:lvl5pPr marL="2286000" lvl="4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2"/>
          </p:nvPr>
        </p:nvSpPr>
        <p:spPr>
          <a:xfrm>
            <a:off x="629841" y="1158581"/>
            <a:ext cx="2949300" cy="3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696321"/>
            <a:ext cx="9144000" cy="447300"/>
          </a:xfrm>
          <a:prstGeom prst="rect">
            <a:avLst/>
          </a:prstGeom>
          <a:solidFill>
            <a:srgbClr val="1253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28650" y="5463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28650" y="993531"/>
            <a:ext cx="7886700" cy="3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628650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1709"/>
            <a:ext cx="9144000" cy="540000"/>
          </a:xfrm>
          <a:prstGeom prst="rect">
            <a:avLst/>
          </a:prstGeom>
          <a:solidFill>
            <a:srgbClr val="1253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103104" y="4816036"/>
            <a:ext cx="4985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1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centre of excellence in science and technology enriched with GNH values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134689" y="75865"/>
            <a:ext cx="74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CST</a:t>
            </a:r>
            <a:endParaRPr/>
          </a:p>
        </p:txBody>
      </p:sp>
      <p:cxnSp>
        <p:nvCxnSpPr>
          <p:cNvPr id="14" name="Google Shape;14;p1"/>
          <p:cNvCxnSpPr/>
          <p:nvPr/>
        </p:nvCxnSpPr>
        <p:spPr>
          <a:xfrm>
            <a:off x="911956" y="46489"/>
            <a:ext cx="0" cy="405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15;p1"/>
          <p:cNvSpPr txBox="1"/>
          <p:nvPr/>
        </p:nvSpPr>
        <p:spPr>
          <a:xfrm>
            <a:off x="916236" y="67576"/>
            <a:ext cx="23754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of Science and Technology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Royal University of Bhutan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Tadi-Chandrasekhar?_tp=eyJjb250ZXh0Ijp7ImZpcnN0UGFnZSI6InB1YmxpY2F0aW9uIiwicGFnZSI6InB1YmxpY2F0aW9uIn19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md.com/bio/kristin-mitchel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url.li/hbretu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hyperlink" Target="https://surl.lu/qubudb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hyperlink" Target="https://surl.li/wnprto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hyperlink" Target="https://surl.li/owcjpp" TargetMode="External"/><Relationship Id="rId4" Type="http://schemas.openxmlformats.org/officeDocument/2006/relationships/hyperlink" Target="https://surli.cc/tcwcih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surl.li/dvbena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hyperlink" Target="https://surl.li/eblppn" TargetMode="External"/><Relationship Id="rId4" Type="http://schemas.openxmlformats.org/officeDocument/2006/relationships/hyperlink" Target="https://surl.li/wvbkel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url-shortener.me/55GE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surl.li/etvykg" TargetMode="External"/><Relationship Id="rId4" Type="http://schemas.openxmlformats.org/officeDocument/2006/relationships/hyperlink" Target="https://surl.li/envhfy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1nq.com/sPi9F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ert.org/research/real-time-vital-signs-monitoring-system-IJERTV8IS060475.pdf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emedicinehealth.com/what_is_a_good_oxygen_rate_by_age/article_em.htm" TargetMode="External"/><Relationship Id="rId5" Type="http://schemas.openxmlformats.org/officeDocument/2006/relationships/hyperlink" Target="https://www.globalscientificjournal.com/researchpaper/Development_Implementation_and_Usage_of_an_Automated_Body_Mass_Index_ABMI_System.pdf" TargetMode="External"/><Relationship Id="rId4" Type="http://schemas.openxmlformats.org/officeDocument/2006/relationships/hyperlink" Target="https://aastweb.org/wp-content/uploads/2025/03/13.-Patient-Assessment-and-Vital-Signs-Measurement-and-Documentation.pdf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ctrTitle"/>
          </p:nvPr>
        </p:nvSpPr>
        <p:spPr>
          <a:xfrm>
            <a:off x="2326800" y="781050"/>
            <a:ext cx="66387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" sz="4100" b="1" dirty="0">
                <a:solidFill>
                  <a:srgbClr val="FFFFFF"/>
                </a:solidFill>
              </a:rPr>
              <a:t>Basic Health Monitoring Station</a:t>
            </a:r>
            <a:endParaRPr sz="4800" dirty="0"/>
          </a:p>
        </p:txBody>
      </p:sp>
      <p:sp>
        <p:nvSpPr>
          <p:cNvPr id="115" name="Google Shape;115;p19"/>
          <p:cNvSpPr txBox="1"/>
          <p:nvPr/>
        </p:nvSpPr>
        <p:spPr>
          <a:xfrm>
            <a:off x="2124175" y="3107250"/>
            <a:ext cx="5002500" cy="15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</a:rPr>
              <a:t>Project Guide</a:t>
            </a:r>
            <a:r>
              <a:rPr lang="en" sz="1700">
                <a:solidFill>
                  <a:srgbClr val="FFFFFF"/>
                </a:solidFill>
              </a:rPr>
              <a:t> </a:t>
            </a:r>
            <a:r>
              <a:rPr lang="en" sz="1700" b="1">
                <a:solidFill>
                  <a:srgbClr val="FFFFFF"/>
                </a:solidFill>
              </a:rPr>
              <a:t>:</a:t>
            </a:r>
            <a:r>
              <a:rPr lang="en" sz="1700">
                <a:solidFill>
                  <a:srgbClr val="FFFFFF"/>
                </a:solidFill>
              </a:rPr>
              <a:t> Madam Karma Kelzang Eudon  </a:t>
            </a:r>
            <a:endParaRPr sz="17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</a:rPr>
              <a:t>External Guide : </a:t>
            </a:r>
            <a:r>
              <a:rPr lang="en" sz="1700">
                <a:solidFill>
                  <a:srgbClr val="FFFFFF"/>
                </a:solidFill>
              </a:rPr>
              <a:t>Mr Kinley Penjor</a:t>
            </a:r>
            <a:endParaRPr sz="17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</a:rPr>
              <a:t>Date: </a:t>
            </a:r>
            <a:r>
              <a:rPr lang="en" sz="1700">
                <a:solidFill>
                  <a:srgbClr val="FFFFFF"/>
                </a:solidFill>
              </a:rPr>
              <a:t>19/09/2025</a:t>
            </a:r>
            <a:endParaRPr sz="17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FF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6817075" y="3756350"/>
            <a:ext cx="2235600" cy="11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3 Members: </a:t>
            </a:r>
            <a:endParaRPr sz="17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1.Arun Sanyasi</a:t>
            </a:r>
            <a:endParaRPr sz="17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2.Tashi Chozom</a:t>
            </a:r>
            <a:endParaRPr sz="17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3.Sherab Zangmo </a:t>
            </a:r>
            <a:endParaRPr sz="17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628650" y="9032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04132"/>
              <a:buFont typeface="Arial"/>
              <a:buNone/>
            </a:pPr>
            <a:r>
              <a:rPr lang="en" sz="2420" b="1"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242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00000"/>
              <a:buFont typeface="Arial"/>
              <a:buNone/>
            </a:pP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526500" y="1308250"/>
            <a:ext cx="3690900" cy="3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4845300" y="1308250"/>
            <a:ext cx="3390000" cy="3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overview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Flow Chart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 of Materials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 Calculation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Power Calculation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Plan</a:t>
            </a: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628650" y="8326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04132"/>
              <a:buFont typeface="Arial"/>
              <a:buNone/>
            </a:pPr>
            <a:r>
              <a:rPr lang="en" sz="242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2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00000"/>
              <a:buFont typeface="Arial"/>
              <a:buNone/>
            </a:pPr>
            <a:endParaRPr dirty="0"/>
          </a:p>
        </p:txBody>
      </p:sp>
      <p:sp>
        <p:nvSpPr>
          <p:cNvPr id="131" name="Google Shape;131;p21"/>
          <p:cNvSpPr txBox="1"/>
          <p:nvPr/>
        </p:nvSpPr>
        <p:spPr>
          <a:xfrm>
            <a:off x="628650" y="1161432"/>
            <a:ext cx="7676400" cy="3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monitoring is vital for early detection and prevention of diseases (World Health Organization, 2020). A Health Monitoring Station simplifies this by measuring key parameters and to display, it provides quick and reliable results, making healthcare more accessible and convenient (Kumar et al., 2022).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1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337" y="2826293"/>
            <a:ext cx="2505025" cy="17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628650" y="59840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5702"/>
              <a:buFont typeface="Arial"/>
              <a:buNone/>
            </a:pPr>
            <a:r>
              <a:rPr lang="en" sz="2420" b="1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628650" y="1003400"/>
            <a:ext cx="7775400" cy="18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-38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Lifestyle diseases are increasing, while healthcare access is often limited (WHO, 2022). Measuring vitals like heart rate, SpO₂, temperature, and BMI traditionally required multiple devices. Advances in biomedical sensors and microcontrollers now enable these in one compact system (Sharma &amp; Singh, 2021), supporting preventive care and monitoring (Chen et al., 2019).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2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00" y="3101025"/>
            <a:ext cx="1459975" cy="145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3213" y="3134612"/>
            <a:ext cx="1392799" cy="139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9439" y="3294761"/>
            <a:ext cx="1675775" cy="10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3050" y="3277811"/>
            <a:ext cx="1106400" cy="11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5784" y="3101025"/>
            <a:ext cx="1106400" cy="140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628650" y="6931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5702"/>
              <a:buFont typeface="Arial"/>
              <a:buNone/>
            </a:pPr>
            <a:r>
              <a:rPr lang="en" sz="2420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628650" y="1098150"/>
            <a:ext cx="7746300" cy="3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-38100" algn="just"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college, the Health Assistant currently uses separate devices to check vital signs. A single Health Monitoring Station that measures pulse rate, respiratory rate, SpO₂, temperature, and BMI in one system can speed up health check-ups. Before going to the Health Assistant, students and staff can use the station for pre-checks, which will help medical personnel quickly proceed with the necessary examinations.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3">
            <a:alphaModFix/>
          </a:blip>
          <a:srcRect l="8576" t="8695" r="7916" b="5636"/>
          <a:stretch/>
        </p:blipFill>
        <p:spPr>
          <a:xfrm>
            <a:off x="7538727" y="3102451"/>
            <a:ext cx="1545805" cy="158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>
            <a:spLocks noGrp="1"/>
          </p:cNvSpPr>
          <p:nvPr>
            <p:ph type="title"/>
          </p:nvPr>
        </p:nvSpPr>
        <p:spPr>
          <a:xfrm>
            <a:off x="628650" y="6931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5702"/>
              <a:buFont typeface="Arial"/>
              <a:buNone/>
            </a:pPr>
            <a:r>
              <a:rPr lang="en" sz="2420" b="1">
                <a:latin typeface="Times New Roman"/>
                <a:ea typeface="Times New Roman"/>
                <a:cs typeface="Times New Roman"/>
                <a:sym typeface="Times New Roman"/>
              </a:rPr>
              <a:t>Aim and Objectives</a:t>
            </a:r>
            <a:endParaRPr/>
          </a:p>
        </p:txBody>
      </p:sp>
      <p:sp>
        <p:nvSpPr>
          <p:cNvPr id="159" name="Google Shape;159;p24"/>
          <p:cNvSpPr txBox="1"/>
          <p:nvPr/>
        </p:nvSpPr>
        <p:spPr>
          <a:xfrm>
            <a:off x="628650" y="1221025"/>
            <a:ext cx="7886700" cy="3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4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Aim: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 health monitoring system that measures four vital signs and BMI for basic check up.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4"/>
              <a:buFont typeface="Arial"/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4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an integrated system for 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</a:t>
            </a: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measurement of pulse rate, respiratory rate, SpO₂, temperature, and BMI.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>
              <a:lnSpc>
                <a:spcPct val="115000"/>
              </a:lnSpc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publish vital signs and health insights using ESP32 and Raspberry Pi.</a:t>
            </a:r>
          </a:p>
          <a:p>
            <a:pPr marL="457200" lvl="0" indent="-342900" algn="just">
              <a:lnSpc>
                <a:spcPct val="115000"/>
              </a:lnSpc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install the system in the infirmary for quick and easy health check-ups.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77800" lvl="0" indent="-3810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98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177800" lvl="0" indent="-381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6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177800" lvl="0" indent="-381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4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title"/>
          </p:nvPr>
        </p:nvSpPr>
        <p:spPr>
          <a:xfrm>
            <a:off x="628650" y="6931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5702"/>
              <a:buFont typeface="Arial"/>
              <a:buNone/>
            </a:pPr>
            <a:r>
              <a:rPr lang="en" sz="2420" b="1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graphicFrame>
        <p:nvGraphicFramePr>
          <p:cNvPr id="166" name="Google Shape;166;p25"/>
          <p:cNvGraphicFramePr/>
          <p:nvPr>
            <p:extLst>
              <p:ext uri="{D42A27DB-BD31-4B8C-83A1-F6EECF244321}">
                <p14:modId xmlns:p14="http://schemas.microsoft.com/office/powerpoint/2010/main" val="255332063"/>
              </p:ext>
            </p:extLst>
          </p:nvPr>
        </p:nvGraphicFramePr>
        <p:xfrm>
          <a:off x="0" y="1098138"/>
          <a:ext cx="9144000" cy="3489885"/>
        </p:xfrm>
        <a:graphic>
          <a:graphicData uri="http://schemas.openxmlformats.org/drawingml/2006/table">
            <a:tbl>
              <a:tblPr>
                <a:noFill/>
                <a:tableStyleId>{8EA6E1AE-5CCD-4C3B-98FC-328A10B10C3D}</a:tableStyleId>
              </a:tblPr>
              <a:tblGrid>
                <a:gridCol w="5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4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3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Authors/Institution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7875">
                <a:tc>
                  <a:txBody>
                    <a:bodyPr/>
                    <a:lstStyle/>
                    <a:p>
                      <a:pPr marL="457200" marR="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AutoNum type="arabicPeriod"/>
                      </a:pPr>
                      <a:r>
                        <a:rPr lang="en" sz="1100"/>
                        <a:t>.</a:t>
                      </a:r>
                      <a:endParaRPr sz="1100" u="none" strike="noStrike" cap="none"/>
                    </a:p>
                  </a:txBody>
                  <a:tcPr marL="91425" marR="91425" marT="91425" marB="0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Real-Time Vital Signs Monitoring System</a:t>
                      </a:r>
                      <a:endParaRPr sz="1100"/>
                    </a:p>
                  </a:txBody>
                  <a:tcPr marL="91425" marR="91425" marT="91425" marB="0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Srishti Dhingra, Madhuri Sharma, Hitesh Arora, Anupam Misra, Surabhi Nayak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Department of CSE, SRM-IST, NCR Campus, Modinagar</a:t>
                      </a:r>
                      <a:endParaRPr sz="1100"/>
                    </a:p>
                  </a:txBody>
                  <a:tcPr marL="91425" marR="91425" marT="91425" marB="0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Measures heart rate, ECG, breathing, skin response, temperature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</a:rPr>
                        <a:t>LCD + web app for display and monitoring</a:t>
                      </a:r>
                      <a:endParaRPr sz="1100" dirty="0"/>
                    </a:p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 dirty="0"/>
                        <a:t>IoT-enabled data transfer</a:t>
                      </a:r>
                      <a:br>
                        <a:rPr lang="en" sz="1100" dirty="0"/>
                      </a:br>
                      <a:endParaRPr sz="11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</a:txBody>
                  <a:tcPr marL="91425" marR="91425" marT="91425" marB="0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Provides Real-time and continuous monitoring</a:t>
                      </a:r>
                      <a:endParaRPr sz="1100"/>
                    </a:p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Remote access by doctors through web app</a:t>
                      </a:r>
                      <a:endParaRPr sz="1100"/>
                    </a:p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Low cost and portable</a:t>
                      </a:r>
                      <a:endParaRPr sz="1100"/>
                    </a:p>
                  </a:txBody>
                  <a:tcPr marL="91425" marR="91425" marT="91425" marB="0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Limited parameters (no SpO₂, BP).</a:t>
                      </a:r>
                      <a:endParaRPr sz="1100"/>
                    </a:p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Motion artifacts, calibration.</a:t>
                      </a:r>
                      <a:endParaRPr sz="1100"/>
                    </a:p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No strong data security.</a:t>
                      </a:r>
                      <a:endParaRPr sz="1100"/>
                    </a:p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Prototype stage</a:t>
                      </a:r>
                      <a:endParaRPr sz="1100"/>
                    </a:p>
                  </a:txBody>
                  <a:tcPr marL="91425" marR="0" marT="91425" marB="0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/>
                        <a:t>2. 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Automated Body Mass Index Assessment Device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Horsfall, Otelemate M.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Yaabari, Monday</a:t>
                      </a:r>
                      <a:br>
                        <a:rPr lang="en" sz="1100">
                          <a:solidFill>
                            <a:schemeClr val="dk1"/>
                          </a:solidFill>
                        </a:rPr>
                      </a:b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University of Port Harcourt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Used MHT1 load cell and HC-SR04 ultrasonic sensor</a:t>
                      </a:r>
                      <a:endParaRPr sz="1100"/>
                    </a:p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Includes LCD display and alarm system for Obesity indication</a:t>
                      </a:r>
                      <a:endParaRPr sz="1100"/>
                    </a:p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12V adapter as backup power.</a:t>
                      </a:r>
                      <a:endParaRPr sz="1100"/>
                    </a:p>
                  </a:txBody>
                  <a:tcPr marL="0" marR="0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Provides accurate BMI measurements</a:t>
                      </a:r>
                      <a:endParaRPr sz="1100"/>
                    </a:p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Automate the calculation</a:t>
                      </a:r>
                      <a:endParaRPr sz="1100"/>
                    </a:p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User friendly</a:t>
                      </a:r>
                      <a:endParaRPr sz="110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0" marR="0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 dirty="0"/>
                        <a:t>Tested on a small sample(10 people,age of 18-36)</a:t>
                      </a:r>
                      <a:endParaRPr sz="1100" dirty="0"/>
                    </a:p>
                    <a:p>
                      <a:pPr marL="182880" lvl="0" indent="-11556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 dirty="0"/>
                        <a:t>Device scope limited to BMI</a:t>
                      </a:r>
                      <a:endParaRPr sz="1100" dirty="0"/>
                    </a:p>
                  </a:txBody>
                  <a:tcPr marL="0" marR="0" marT="0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>
            <a:spLocks noGrp="1"/>
          </p:cNvSpPr>
          <p:nvPr>
            <p:ph type="title"/>
          </p:nvPr>
        </p:nvSpPr>
        <p:spPr>
          <a:xfrm>
            <a:off x="628650" y="6931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04132"/>
              <a:buFont typeface="Arial"/>
              <a:buNone/>
            </a:pPr>
            <a:r>
              <a:rPr lang="en-US" sz="242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42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00000"/>
              <a:buFont typeface="Arial"/>
              <a:buNone/>
            </a:pPr>
            <a:endParaRPr dirty="0"/>
          </a:p>
        </p:txBody>
      </p:sp>
      <p:graphicFrame>
        <p:nvGraphicFramePr>
          <p:cNvPr id="173" name="Google Shape;173;p26"/>
          <p:cNvGraphicFramePr/>
          <p:nvPr/>
        </p:nvGraphicFramePr>
        <p:xfrm>
          <a:off x="0" y="1217488"/>
          <a:ext cx="9144000" cy="3246030"/>
        </p:xfrm>
        <a:graphic>
          <a:graphicData uri="http://schemas.openxmlformats.org/drawingml/2006/table">
            <a:tbl>
              <a:tblPr>
                <a:noFill/>
                <a:tableStyleId>{8EA6E1AE-5CCD-4C3B-98FC-328A10B10C3D}</a:tableStyleId>
              </a:tblPr>
              <a:tblGrid>
                <a:gridCol w="5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4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3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Authors/Institution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3.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Development, Implementation and Usage of an Automated Body Mass Index System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Olajide Patrick O., Musiliyu Kazeem A., Alao Olumuyiwa A.,Owolabi I.E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Afe Babalola University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Measurement of BMI 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Using 4-load cell Wheastone Bridge and PING/HC-SR04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Buzzer with driver circuit for feedback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Provides non-invasive, low-cost BMI measurement</a:t>
                      </a:r>
                      <a:endParaRPr sz="1100"/>
                    </a:p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Results show strong correlation with manual measurement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Only BMI is measured</a:t>
                      </a:r>
                      <a:endParaRPr sz="1100"/>
                    </a:p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Tested on 60 students 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/>
                        <a:t>4.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Patient Assessment and Vital Signs Measurement and Documentation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American Association of Sleep Technologists (AAST)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Standardized methods for measuring/documenting vital signs; includes BMI, SpO₂, OSA risk tools, and questionnaires.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Accurate, consistent assessment improves sleep disorder diagnosis and safety; many external factors influence readings.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-11557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Tool accuracy may vary, some methods not suitable for all ages, requires adaptation to facility protocols.</a:t>
                      </a:r>
                      <a:endParaRPr sz="1100"/>
                    </a:p>
                  </a:txBody>
                  <a:tcPr marL="91425" marR="91425" marT="0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" name="Google Shape;174;p26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628650" y="6931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4132"/>
            </a:pPr>
            <a:r>
              <a:rPr lang="en-US" sz="2420" b="1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lang="en-US" sz="242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0" name="Google Shape;180;p27"/>
          <p:cNvGraphicFramePr/>
          <p:nvPr/>
        </p:nvGraphicFramePr>
        <p:xfrm>
          <a:off x="0" y="1193263"/>
          <a:ext cx="9144000" cy="1554420"/>
        </p:xfrm>
        <a:graphic>
          <a:graphicData uri="http://schemas.openxmlformats.org/drawingml/2006/table">
            <a:tbl>
              <a:tblPr>
                <a:noFill/>
                <a:tableStyleId>{8EA6E1AE-5CCD-4C3B-98FC-328A10B10C3D}</a:tableStyleId>
              </a:tblPr>
              <a:tblGrid>
                <a:gridCol w="5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4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3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Authors/Institution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5.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Study of Health Monitoring System</a:t>
                      </a:r>
                      <a:endParaRPr sz="11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 Megha Chavan, Prof. Prajakta Pardeshi, Dr. S.A. Khoje, Prof. Manasvi Patil – MIT College of Engineering (MITCOE), Pune</a:t>
                      </a:r>
                      <a:endParaRPr sz="11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Reviews mobile, remote, and wearable health monitoring using IoT, RFID, Bluetooth, ZigBee, GPS for tracking vital signs.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 Improves hospital/home monitoring, offers high accuracy and real-time data, reduces cost and workload.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Power use, data security, comfort issues, higher cost with advanced modules, false alarms.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134F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1" name="Google Shape;181;p27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/>
          <p:nvPr/>
        </p:nvSpPr>
        <p:spPr>
          <a:xfrm>
            <a:off x="1199150" y="988550"/>
            <a:ext cx="933444" cy="400032"/>
          </a:xfrm>
          <a:prstGeom prst="flowChartTerminator">
            <a:avLst/>
          </a:prstGeom>
          <a:solidFill>
            <a:srgbClr val="45818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8"/>
          <p:cNvSpPr txBox="1">
            <a:spLocks noGrp="1"/>
          </p:cNvSpPr>
          <p:nvPr>
            <p:ph type="title" idx="4294967295"/>
          </p:nvPr>
        </p:nvSpPr>
        <p:spPr>
          <a:xfrm>
            <a:off x="130875" y="5480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800"/>
              <a:buFont typeface="Arial"/>
              <a:buNone/>
            </a:pPr>
            <a:r>
              <a:rPr lang="en" sz="2400" b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869225" y="1707688"/>
            <a:ext cx="1593300" cy="4050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Topic Finalization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915725" y="2346475"/>
            <a:ext cx="1500300" cy="5322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28"/>
          <p:cNvCxnSpPr>
            <a:stCxn id="186" idx="2"/>
            <a:endCxn id="188" idx="0"/>
          </p:cNvCxnSpPr>
          <p:nvPr/>
        </p:nvCxnSpPr>
        <p:spPr>
          <a:xfrm>
            <a:off x="1665872" y="1388582"/>
            <a:ext cx="0" cy="31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28"/>
          <p:cNvCxnSpPr>
            <a:stCxn id="188" idx="2"/>
            <a:endCxn id="189" idx="0"/>
          </p:cNvCxnSpPr>
          <p:nvPr/>
        </p:nvCxnSpPr>
        <p:spPr>
          <a:xfrm>
            <a:off x="1665875" y="2112688"/>
            <a:ext cx="0" cy="23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2" name="Google Shape;192;p28"/>
          <p:cNvSpPr/>
          <p:nvPr/>
        </p:nvSpPr>
        <p:spPr>
          <a:xfrm>
            <a:off x="3502925" y="2283625"/>
            <a:ext cx="1805700" cy="4104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Breadboard Testing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3574775" y="3056600"/>
            <a:ext cx="1662000" cy="5322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Algorithm Development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6511575" y="890413"/>
            <a:ext cx="1662000" cy="5322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Testing and Validation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6439725" y="2726638"/>
            <a:ext cx="1805700" cy="4104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 and Analysis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6875850" y="4200150"/>
            <a:ext cx="933444" cy="400032"/>
          </a:xfrm>
          <a:prstGeom prst="flowChartTerminator">
            <a:avLst/>
          </a:prstGeom>
          <a:solidFill>
            <a:srgbClr val="45818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6395525" y="1663400"/>
            <a:ext cx="1894100" cy="763300"/>
          </a:xfrm>
          <a:prstGeom prst="flowChartDecision">
            <a:avLst/>
          </a:prstGeom>
          <a:solidFill>
            <a:srgbClr val="45818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Working?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28"/>
          <p:cNvCxnSpPr>
            <a:stCxn id="199" idx="2"/>
            <a:endCxn id="192" idx="0"/>
          </p:cNvCxnSpPr>
          <p:nvPr/>
        </p:nvCxnSpPr>
        <p:spPr>
          <a:xfrm>
            <a:off x="4405763" y="1838838"/>
            <a:ext cx="0" cy="44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28"/>
          <p:cNvCxnSpPr>
            <a:stCxn id="192" idx="2"/>
            <a:endCxn id="193" idx="0"/>
          </p:cNvCxnSpPr>
          <p:nvPr/>
        </p:nvCxnSpPr>
        <p:spPr>
          <a:xfrm>
            <a:off x="4405775" y="2694025"/>
            <a:ext cx="0" cy="362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28"/>
          <p:cNvCxnSpPr>
            <a:stCxn id="193" idx="2"/>
            <a:endCxn id="202" idx="0"/>
          </p:cNvCxnSpPr>
          <p:nvPr/>
        </p:nvCxnSpPr>
        <p:spPr>
          <a:xfrm>
            <a:off x="4405775" y="3588800"/>
            <a:ext cx="0" cy="362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3" name="Google Shape;203;p28"/>
          <p:cNvCxnSpPr>
            <a:stCxn id="197" idx="2"/>
            <a:endCxn id="195" idx="0"/>
          </p:cNvCxnSpPr>
          <p:nvPr/>
        </p:nvCxnSpPr>
        <p:spPr>
          <a:xfrm>
            <a:off x="7342575" y="2426700"/>
            <a:ext cx="0" cy="30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4" name="Google Shape;204;p28"/>
          <p:cNvCxnSpPr>
            <a:stCxn id="194" idx="2"/>
            <a:endCxn id="197" idx="0"/>
          </p:cNvCxnSpPr>
          <p:nvPr/>
        </p:nvCxnSpPr>
        <p:spPr>
          <a:xfrm>
            <a:off x="7342575" y="1422613"/>
            <a:ext cx="0" cy="2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5" name="Google Shape;205;p28"/>
          <p:cNvCxnSpPr>
            <a:stCxn id="195" idx="2"/>
            <a:endCxn id="206" idx="0"/>
          </p:cNvCxnSpPr>
          <p:nvPr/>
        </p:nvCxnSpPr>
        <p:spPr>
          <a:xfrm>
            <a:off x="7342575" y="3137038"/>
            <a:ext cx="0" cy="265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7" name="Google Shape;207;p28"/>
          <p:cNvSpPr txBox="1"/>
          <p:nvPr/>
        </p:nvSpPr>
        <p:spPr>
          <a:xfrm>
            <a:off x="7458625" y="2337463"/>
            <a:ext cx="831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7809300" y="1663388"/>
            <a:ext cx="831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No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915725" y="3187500"/>
            <a:ext cx="1500300" cy="5322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 Design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915725" y="4028513"/>
            <a:ext cx="1500300" cy="5322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 Selection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28"/>
          <p:cNvCxnSpPr>
            <a:stCxn id="189" idx="2"/>
            <a:endCxn id="209" idx="0"/>
          </p:cNvCxnSpPr>
          <p:nvPr/>
        </p:nvCxnSpPr>
        <p:spPr>
          <a:xfrm>
            <a:off x="1665875" y="2878675"/>
            <a:ext cx="0" cy="30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2" name="Google Shape;212;p28"/>
          <p:cNvCxnSpPr>
            <a:endCxn id="194" idx="0"/>
          </p:cNvCxnSpPr>
          <p:nvPr/>
        </p:nvCxnSpPr>
        <p:spPr>
          <a:xfrm flipH="1">
            <a:off x="7342575" y="697513"/>
            <a:ext cx="1200" cy="19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6" name="Google Shape;206;p28"/>
          <p:cNvSpPr/>
          <p:nvPr/>
        </p:nvSpPr>
        <p:spPr>
          <a:xfrm>
            <a:off x="6511575" y="3402488"/>
            <a:ext cx="1662000" cy="5322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Documentation 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28"/>
          <p:cNvCxnSpPr>
            <a:stCxn id="206" idx="2"/>
            <a:endCxn id="196" idx="0"/>
          </p:cNvCxnSpPr>
          <p:nvPr/>
        </p:nvCxnSpPr>
        <p:spPr>
          <a:xfrm>
            <a:off x="7342575" y="3934688"/>
            <a:ext cx="0" cy="265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4" name="Google Shape;214;p28"/>
          <p:cNvCxnSpPr>
            <a:stCxn id="209" idx="2"/>
            <a:endCxn id="210" idx="0"/>
          </p:cNvCxnSpPr>
          <p:nvPr/>
        </p:nvCxnSpPr>
        <p:spPr>
          <a:xfrm>
            <a:off x="1665875" y="3719700"/>
            <a:ext cx="0" cy="30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5" name="Google Shape;215;p28"/>
          <p:cNvCxnSpPr>
            <a:endCxn id="199" idx="0"/>
          </p:cNvCxnSpPr>
          <p:nvPr/>
        </p:nvCxnSpPr>
        <p:spPr>
          <a:xfrm>
            <a:off x="4400963" y="1117638"/>
            <a:ext cx="4800" cy="31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6" name="Google Shape;216;p28"/>
          <p:cNvCxnSpPr/>
          <p:nvPr/>
        </p:nvCxnSpPr>
        <p:spPr>
          <a:xfrm rot="-5400000">
            <a:off x="3840875" y="2097625"/>
            <a:ext cx="3513900" cy="722100"/>
          </a:xfrm>
          <a:prstGeom prst="bentConnector3">
            <a:avLst>
              <a:gd name="adj1" fmla="val 503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7" name="Google Shape;217;p28"/>
          <p:cNvCxnSpPr/>
          <p:nvPr/>
        </p:nvCxnSpPr>
        <p:spPr>
          <a:xfrm rot="10800000" flipH="1">
            <a:off x="5951325" y="704075"/>
            <a:ext cx="1403700" cy="6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28"/>
          <p:cNvCxnSpPr>
            <a:stCxn id="193" idx="3"/>
          </p:cNvCxnSpPr>
          <p:nvPr/>
        </p:nvCxnSpPr>
        <p:spPr>
          <a:xfrm rot="10800000" flipH="1">
            <a:off x="5236775" y="624800"/>
            <a:ext cx="425100" cy="26979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28"/>
          <p:cNvCxnSpPr>
            <a:endCxn id="197" idx="3"/>
          </p:cNvCxnSpPr>
          <p:nvPr/>
        </p:nvCxnSpPr>
        <p:spPr>
          <a:xfrm>
            <a:off x="5653225" y="631450"/>
            <a:ext cx="2636400" cy="1413600"/>
          </a:xfrm>
          <a:prstGeom prst="bentConnector3">
            <a:avLst>
              <a:gd name="adj1" fmla="val 10903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28"/>
          <p:cNvSpPr/>
          <p:nvPr/>
        </p:nvSpPr>
        <p:spPr>
          <a:xfrm>
            <a:off x="3574763" y="1428438"/>
            <a:ext cx="1662000" cy="410400"/>
          </a:xfrm>
          <a:prstGeom prst="roundRect">
            <a:avLst>
              <a:gd name="adj" fmla="val 19417"/>
            </a:avLst>
          </a:prstGeom>
          <a:solidFill>
            <a:srgbClr val="45818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 Procurement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3574775" y="3951375"/>
            <a:ext cx="1662000" cy="532200"/>
          </a:xfrm>
          <a:prstGeom prst="roundRect">
            <a:avLst>
              <a:gd name="adj" fmla="val 16667"/>
            </a:avLst>
          </a:prstGeom>
          <a:solidFill>
            <a:srgbClr val="45818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Fabrication and Integration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8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cxnSp>
        <p:nvCxnSpPr>
          <p:cNvPr id="221" name="Google Shape;221;p28"/>
          <p:cNvCxnSpPr>
            <a:stCxn id="210" idx="3"/>
          </p:cNvCxnSpPr>
          <p:nvPr/>
        </p:nvCxnSpPr>
        <p:spPr>
          <a:xfrm rot="10800000" flipH="1">
            <a:off x="2416025" y="1114913"/>
            <a:ext cx="746700" cy="31797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2" name="Google Shape;222;p28"/>
          <p:cNvCxnSpPr/>
          <p:nvPr/>
        </p:nvCxnSpPr>
        <p:spPr>
          <a:xfrm rot="10800000" flipH="1">
            <a:off x="3152425" y="1122525"/>
            <a:ext cx="1255800" cy="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3F3E3A0-A677-83F6-1BD8-44A1F4AE40FE}"/>
              </a:ext>
            </a:extLst>
          </p:cNvPr>
          <p:cNvCxnSpPr>
            <a:endCxn id="193" idx="3"/>
          </p:cNvCxnSpPr>
          <p:nvPr/>
        </p:nvCxnSpPr>
        <p:spPr>
          <a:xfrm flipH="1">
            <a:off x="5236775" y="3322700"/>
            <a:ext cx="425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>
            <a:spLocks noGrp="1"/>
          </p:cNvSpPr>
          <p:nvPr>
            <p:ph type="title"/>
          </p:nvPr>
        </p:nvSpPr>
        <p:spPr>
          <a:xfrm>
            <a:off x="715078" y="632263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6666"/>
              <a:buFont typeface="Arial"/>
              <a:buNone/>
            </a:pPr>
            <a:r>
              <a:rPr lang="e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System Overview</a:t>
            </a:r>
            <a:endParaRPr dirty="0"/>
          </a:p>
        </p:txBody>
      </p:sp>
      <p:sp>
        <p:nvSpPr>
          <p:cNvPr id="242" name="Google Shape;242;p29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292BC5-C052-ED63-1D76-CFF7F5EBF165}"/>
              </a:ext>
            </a:extLst>
          </p:cNvPr>
          <p:cNvGrpSpPr/>
          <p:nvPr/>
        </p:nvGrpSpPr>
        <p:grpSpPr>
          <a:xfrm>
            <a:off x="715078" y="1515541"/>
            <a:ext cx="8161334" cy="2894231"/>
            <a:chOff x="915800" y="1010019"/>
            <a:chExt cx="8161334" cy="2894231"/>
          </a:xfrm>
        </p:grpSpPr>
        <p:sp>
          <p:nvSpPr>
            <p:cNvPr id="235" name="Google Shape;235;p29"/>
            <p:cNvSpPr/>
            <p:nvPr/>
          </p:nvSpPr>
          <p:spPr>
            <a:xfrm>
              <a:off x="2378750" y="1628600"/>
              <a:ext cx="1075500" cy="188400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2378750" y="3614775"/>
              <a:ext cx="1075500" cy="188400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2378750" y="2290663"/>
              <a:ext cx="1075500" cy="188400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3454100" y="1045852"/>
              <a:ext cx="1440400" cy="2824597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ESP32</a:t>
              </a:r>
              <a:endParaRPr/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5492100" y="1045852"/>
              <a:ext cx="1706000" cy="2824597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Raspberry </a:t>
              </a:r>
              <a:endParaRPr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pi 4</a:t>
              </a:r>
              <a:endParaRPr dirty="0"/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915800" y="1520300"/>
              <a:ext cx="1618200" cy="405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Ultrasonic Sensor</a:t>
              </a:r>
              <a:endParaRPr sz="1200"/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915800" y="2844425"/>
              <a:ext cx="1618200" cy="405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/>
                <a:t>Pulse rate +</a:t>
              </a:r>
              <a:endParaRPr sz="1200"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/>
                <a:t>Respiratory rate</a:t>
              </a:r>
              <a:endParaRPr sz="1200" dirty="0"/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915800" y="2189600"/>
              <a:ext cx="1618200" cy="46703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Load cell</a:t>
              </a:r>
              <a:endParaRPr sz="1200"/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915800" y="3499250"/>
              <a:ext cx="1618200" cy="405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/>
                <a:t>Temperature</a:t>
              </a:r>
              <a:endParaRPr sz="1200" dirty="0"/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/>
                <a:t>sensor</a:t>
              </a:r>
              <a:endParaRPr sz="1200" dirty="0"/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7769434" y="2166750"/>
              <a:ext cx="1307700" cy="810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HMI Display</a:t>
              </a:r>
              <a:endParaRPr dirty="0"/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2534000" y="2952750"/>
              <a:ext cx="920100" cy="188400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9"/>
            <p:cNvSpPr/>
            <p:nvPr/>
          </p:nvSpPr>
          <p:spPr>
            <a:xfrm>
              <a:off x="4894500" y="2479075"/>
              <a:ext cx="597600" cy="405000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7197366" y="2405921"/>
              <a:ext cx="572068" cy="332260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1" name="Google Shape;24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13100" y="1628600"/>
              <a:ext cx="1355092" cy="1028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59200" y="1520300"/>
              <a:ext cx="1106400" cy="11849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Google Shape;235;p29">
              <a:extLst>
                <a:ext uri="{FF2B5EF4-FFF2-40B4-BE49-F238E27FC236}">
                  <a16:creationId xmlns:a16="http://schemas.microsoft.com/office/drawing/2014/main" id="{3ACB2E19-F9F8-DA9D-F221-0FF7F0A6B09C}"/>
                </a:ext>
              </a:extLst>
            </p:cNvPr>
            <p:cNvSpPr/>
            <p:nvPr/>
          </p:nvSpPr>
          <p:spPr>
            <a:xfrm>
              <a:off x="2378600" y="1121339"/>
              <a:ext cx="1075500" cy="188400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" name="Google Shape;230;p29">
              <a:extLst>
                <a:ext uri="{FF2B5EF4-FFF2-40B4-BE49-F238E27FC236}">
                  <a16:creationId xmlns:a16="http://schemas.microsoft.com/office/drawing/2014/main" id="{5564FEEB-BD0B-AA0E-1E05-E4C8AD2C2A79}"/>
                </a:ext>
              </a:extLst>
            </p:cNvPr>
            <p:cNvSpPr/>
            <p:nvPr/>
          </p:nvSpPr>
          <p:spPr>
            <a:xfrm>
              <a:off x="915800" y="1010019"/>
              <a:ext cx="1618200" cy="401981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/>
                <a:t>SPO</a:t>
              </a:r>
              <a:r>
                <a:rPr lang="en" sz="1200" baseline="-25000" dirty="0"/>
                <a:t>2</a:t>
              </a:r>
              <a:endParaRPr sz="12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30E8436F-D622-5F87-7641-125B1D2A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>
            <a:extLst>
              <a:ext uri="{FF2B5EF4-FFF2-40B4-BE49-F238E27FC236}">
                <a16:creationId xmlns:a16="http://schemas.microsoft.com/office/drawing/2014/main" id="{DFC66DA3-5A74-3D93-C209-B270A66314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050" y="6408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6666"/>
              <a:buFont typeface="Arial"/>
              <a:buNone/>
            </a:pPr>
            <a:r>
              <a:rPr lang="en-US" dirty="0"/>
              <a:t>System Model</a:t>
            </a:r>
            <a:endParaRPr dirty="0"/>
          </a:p>
        </p:txBody>
      </p:sp>
      <p:sp>
        <p:nvSpPr>
          <p:cNvPr id="242" name="Google Shape;242;p29">
            <a:extLst>
              <a:ext uri="{FF2B5EF4-FFF2-40B4-BE49-F238E27FC236}">
                <a16:creationId xmlns:a16="http://schemas.microsoft.com/office/drawing/2014/main" id="{2C7A679D-61F4-3662-2749-C13247FE9E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2" name="Health monitoring station">
            <a:hlinkClick r:id="" action="ppaction://media"/>
            <a:extLst>
              <a:ext uri="{FF2B5EF4-FFF2-40B4-BE49-F238E27FC236}">
                <a16:creationId xmlns:a16="http://schemas.microsoft.com/office/drawing/2014/main" id="{B3F833E2-881E-9258-EB36-D4FA27AE01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97685" y="542693"/>
            <a:ext cx="3125381" cy="412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8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5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30E8436F-D622-5F87-7641-125B1D2A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>
            <a:extLst>
              <a:ext uri="{FF2B5EF4-FFF2-40B4-BE49-F238E27FC236}">
                <a16:creationId xmlns:a16="http://schemas.microsoft.com/office/drawing/2014/main" id="{2C7A679D-61F4-3662-2749-C13247FE9E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A188356C-54FA-8000-CE06-DEF28EED87E3}"/>
              </a:ext>
            </a:extLst>
          </p:cNvPr>
          <p:cNvGrpSpPr/>
          <p:nvPr/>
        </p:nvGrpSpPr>
        <p:grpSpPr>
          <a:xfrm>
            <a:off x="69028" y="1603003"/>
            <a:ext cx="1989918" cy="2966035"/>
            <a:chOff x="0" y="587780"/>
            <a:chExt cx="2237054" cy="41383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673932D-80AC-C6A8-EFF4-B06F847AB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858" t="5988" r="24018"/>
            <a:stretch>
              <a:fillRect/>
            </a:stretch>
          </p:blipFill>
          <p:spPr>
            <a:xfrm>
              <a:off x="0" y="587780"/>
              <a:ext cx="1753985" cy="4138311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79BB2E3-F335-D2A4-82A7-646188F7812D}"/>
                </a:ext>
              </a:extLst>
            </p:cNvPr>
            <p:cNvGrpSpPr/>
            <p:nvPr/>
          </p:nvGrpSpPr>
          <p:grpSpPr>
            <a:xfrm>
              <a:off x="1779744" y="1035745"/>
              <a:ext cx="457310" cy="3364302"/>
              <a:chOff x="6427119" y="974785"/>
              <a:chExt cx="457310" cy="3364302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AE194598-45F2-E5E3-9F7E-00F2391C5CAA}"/>
                  </a:ext>
                </a:extLst>
              </p:cNvPr>
              <p:cNvCxnSpPr/>
              <p:nvPr/>
            </p:nvCxnSpPr>
            <p:spPr>
              <a:xfrm>
                <a:off x="6495691" y="974785"/>
                <a:ext cx="0" cy="3364302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833BBF8-3543-B635-439E-F57DE6B49DD1}"/>
                  </a:ext>
                </a:extLst>
              </p:cNvPr>
              <p:cNvCxnSpPr/>
              <p:nvPr/>
            </p:nvCxnSpPr>
            <p:spPr>
              <a:xfrm>
                <a:off x="6442364" y="4339087"/>
                <a:ext cx="10806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F432DB7-B7E5-EB4E-B57D-698F172A990B}"/>
                  </a:ext>
                </a:extLst>
              </p:cNvPr>
              <p:cNvCxnSpPr/>
              <p:nvPr/>
            </p:nvCxnSpPr>
            <p:spPr>
              <a:xfrm>
                <a:off x="6442364" y="975438"/>
                <a:ext cx="10806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3C9227-601F-725D-203D-6641904729E0}"/>
                  </a:ext>
                </a:extLst>
              </p:cNvPr>
              <p:cNvSpPr txBox="1"/>
              <p:nvPr/>
            </p:nvSpPr>
            <p:spPr>
              <a:xfrm>
                <a:off x="6427119" y="2509965"/>
                <a:ext cx="457310" cy="926596"/>
              </a:xfrm>
              <a:prstGeom prst="rect">
                <a:avLst/>
              </a:prstGeom>
              <a:noFill/>
            </p:spPr>
            <p:txBody>
              <a:bodyPr vert="vert" wrap="square" rtlCol="0">
                <a:spAutoFit/>
              </a:bodyPr>
              <a:lstStyle/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200CM</a:t>
                </a:r>
              </a:p>
            </p:txBody>
          </p:sp>
        </p:grp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700BAD96-1C0E-A56A-C5C0-5A93388D87F0}"/>
              </a:ext>
            </a:extLst>
          </p:cNvPr>
          <p:cNvGrpSpPr/>
          <p:nvPr/>
        </p:nvGrpSpPr>
        <p:grpSpPr>
          <a:xfrm>
            <a:off x="5391422" y="1740692"/>
            <a:ext cx="1855333" cy="2725252"/>
            <a:chOff x="6250977" y="858952"/>
            <a:chExt cx="2285208" cy="3434498"/>
          </a:xfrm>
        </p:grpSpPr>
        <p:pic>
          <p:nvPicPr>
            <p:cNvPr id="197" name="Picture 196">
              <a:extLst>
                <a:ext uri="{FF2B5EF4-FFF2-40B4-BE49-F238E27FC236}">
                  <a16:creationId xmlns:a16="http://schemas.microsoft.com/office/drawing/2014/main" id="{D4D367AA-B4BF-DA32-9680-358F503AF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0977" y="1319421"/>
              <a:ext cx="1661381" cy="2974029"/>
            </a:xfrm>
            <a:prstGeom prst="rect">
              <a:avLst/>
            </a:prstGeom>
          </p:spPr>
        </p:pic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A5989BC5-26AE-21B2-5020-070A3AF650C7}"/>
                </a:ext>
              </a:extLst>
            </p:cNvPr>
            <p:cNvCxnSpPr/>
            <p:nvPr/>
          </p:nvCxnSpPr>
          <p:spPr>
            <a:xfrm>
              <a:off x="7206712" y="1105174"/>
              <a:ext cx="40295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9E91D15F-3463-A3F3-2A86-0207E2FD0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3111" y="1055754"/>
              <a:ext cx="33113" cy="98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9204F792-CDF3-5D4A-014F-89612DEC0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0155" y="1055754"/>
              <a:ext cx="33113" cy="988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CB574C9-1D51-4166-1018-1DD270116A3E}"/>
                </a:ext>
              </a:extLst>
            </p:cNvPr>
            <p:cNvSpPr txBox="1"/>
            <p:nvPr/>
          </p:nvSpPr>
          <p:spPr>
            <a:xfrm>
              <a:off x="7149345" y="858952"/>
              <a:ext cx="1386840" cy="290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40CM</a:t>
              </a:r>
            </a:p>
          </p:txBody>
        </p: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D0690339-0951-1449-E78D-384FE74A7E69}"/>
                </a:ext>
              </a:extLst>
            </p:cNvPr>
            <p:cNvCxnSpPr>
              <a:cxnSpLocks/>
            </p:cNvCxnSpPr>
            <p:nvPr/>
          </p:nvCxnSpPr>
          <p:spPr>
            <a:xfrm>
              <a:off x="8135130" y="1836821"/>
              <a:ext cx="926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40A134D5-E1E8-DA10-D775-CD80C6BBB07C}"/>
                </a:ext>
              </a:extLst>
            </p:cNvPr>
            <p:cNvCxnSpPr>
              <a:cxnSpLocks/>
            </p:cNvCxnSpPr>
            <p:nvPr/>
          </p:nvCxnSpPr>
          <p:spPr>
            <a:xfrm>
              <a:off x="8135130" y="3096126"/>
              <a:ext cx="926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50EC1C06-1276-D4C0-A049-02633304F2C0}"/>
                </a:ext>
              </a:extLst>
            </p:cNvPr>
            <p:cNvCxnSpPr/>
            <p:nvPr/>
          </p:nvCxnSpPr>
          <p:spPr>
            <a:xfrm>
              <a:off x="8181474" y="1836821"/>
              <a:ext cx="0" cy="125930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9B4AD2E-A906-463C-C556-F24AB8CE2291}"/>
              </a:ext>
            </a:extLst>
          </p:cNvPr>
          <p:cNvGrpSpPr/>
          <p:nvPr/>
        </p:nvGrpSpPr>
        <p:grpSpPr>
          <a:xfrm>
            <a:off x="2008657" y="1320508"/>
            <a:ext cx="3256601" cy="3565575"/>
            <a:chOff x="2443571" y="1007447"/>
            <a:chExt cx="3409998" cy="3922239"/>
          </a:xfrm>
        </p:grpSpPr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D7BB09FB-FC59-F52B-8E9D-DC4B4B013095}"/>
                </a:ext>
              </a:extLst>
            </p:cNvPr>
            <p:cNvGrpSpPr/>
            <p:nvPr/>
          </p:nvGrpSpPr>
          <p:grpSpPr>
            <a:xfrm>
              <a:off x="2443571" y="1007447"/>
              <a:ext cx="3409998" cy="3701492"/>
              <a:chOff x="2693748" y="1007447"/>
              <a:chExt cx="3409998" cy="3701492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D189CF2-B7FE-14B5-5BB8-0C4A8AA375C8}"/>
                  </a:ext>
                </a:extLst>
              </p:cNvPr>
              <p:cNvGrpSpPr/>
              <p:nvPr/>
            </p:nvGrpSpPr>
            <p:grpSpPr>
              <a:xfrm>
                <a:off x="3040254" y="1007447"/>
                <a:ext cx="3063492" cy="3701492"/>
                <a:chOff x="2243600" y="1035745"/>
                <a:chExt cx="3063492" cy="3701492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043075F3-C3C2-D13F-946E-CFF7085A74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18222" r="11495" b="4889"/>
                <a:stretch>
                  <a:fillRect/>
                </a:stretch>
              </p:blipFill>
              <p:spPr>
                <a:xfrm>
                  <a:off x="2243600" y="1035745"/>
                  <a:ext cx="2573877" cy="3364302"/>
                </a:xfrm>
                <a:prstGeom prst="rect">
                  <a:avLst/>
                </a:prstGeom>
              </p:spPr>
            </p:pic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84CE16AD-6F53-17C5-9525-729C421EBEDB}"/>
                    </a:ext>
                  </a:extLst>
                </p:cNvPr>
                <p:cNvCxnSpPr/>
                <p:nvPr/>
              </p:nvCxnSpPr>
              <p:spPr>
                <a:xfrm>
                  <a:off x="4998720" y="1744980"/>
                  <a:ext cx="0" cy="243078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C34507D7-C19C-56F3-99D7-035A5B4C753C}"/>
                    </a:ext>
                  </a:extLst>
                </p:cNvPr>
                <p:cNvCxnSpPr/>
                <p:nvPr/>
              </p:nvCxnSpPr>
              <p:spPr>
                <a:xfrm>
                  <a:off x="4937760" y="1744980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C9DD9F66-EF2D-855F-A2D9-CA908DD6FAEE}"/>
                    </a:ext>
                  </a:extLst>
                </p:cNvPr>
                <p:cNvCxnSpPr/>
                <p:nvPr/>
              </p:nvCxnSpPr>
              <p:spPr>
                <a:xfrm>
                  <a:off x="4937760" y="4175760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AABF1C4-2EFA-E77D-48B9-7815E5EE9609}"/>
                    </a:ext>
                  </a:extLst>
                </p:cNvPr>
                <p:cNvSpPr txBox="1"/>
                <p:nvPr/>
              </p:nvSpPr>
              <p:spPr>
                <a:xfrm>
                  <a:off x="4937760" y="2632019"/>
                  <a:ext cx="369332" cy="656703"/>
                </a:xfrm>
                <a:prstGeom prst="rect">
                  <a:avLst/>
                </a:prstGeom>
                <a:noFill/>
              </p:spPr>
              <p:txBody>
                <a:bodyPr vert="vert" wrap="square" rtlCol="0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90CM</a:t>
                  </a:r>
                </a:p>
              </p:txBody>
            </p: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3A362984-8DC2-A971-4146-77418BFF127D}"/>
                    </a:ext>
                  </a:extLst>
                </p:cNvPr>
                <p:cNvCxnSpPr/>
                <p:nvPr/>
              </p:nvCxnSpPr>
              <p:spPr>
                <a:xfrm>
                  <a:off x="2912864" y="4479520"/>
                  <a:ext cx="2085856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900397F-F41B-1463-2A9E-64877D47F076}"/>
                    </a:ext>
                  </a:extLst>
                </p:cNvPr>
                <p:cNvSpPr txBox="1"/>
                <p:nvPr/>
              </p:nvSpPr>
              <p:spPr>
                <a:xfrm>
                  <a:off x="3680460" y="4460238"/>
                  <a:ext cx="138684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40CM</a:t>
                  </a:r>
                </a:p>
              </p:txBody>
            </p: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27A365C6-47A9-EDED-6266-3C3976D2BA4C}"/>
                    </a:ext>
                  </a:extLst>
                </p:cNvPr>
                <p:cNvCxnSpPr/>
                <p:nvPr/>
              </p:nvCxnSpPr>
              <p:spPr>
                <a:xfrm>
                  <a:off x="2875776" y="4429487"/>
                  <a:ext cx="74176" cy="13849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462A7E81-F680-3C11-9B64-A0E227FFCD3B}"/>
                    </a:ext>
                  </a:extLst>
                </p:cNvPr>
                <p:cNvCxnSpPr/>
                <p:nvPr/>
              </p:nvCxnSpPr>
              <p:spPr>
                <a:xfrm>
                  <a:off x="4937760" y="4399007"/>
                  <a:ext cx="74176" cy="13849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BA1C638-71AE-E5E3-5EEE-F4ED7BD869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93748" y="4106222"/>
                <a:ext cx="103240" cy="950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F9390865-67E0-CC42-E5DE-D31960C642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62572" y="4509208"/>
                <a:ext cx="89419" cy="717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3B2A27A1-F9E4-B571-4D0E-FBCAC0C4C1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8485" y="4147462"/>
                <a:ext cx="375715" cy="39222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33B5DBAF-E30A-57C9-4834-DCC01CB8E51D}"/>
                </a:ext>
              </a:extLst>
            </p:cNvPr>
            <p:cNvSpPr txBox="1"/>
            <p:nvPr/>
          </p:nvSpPr>
          <p:spPr>
            <a:xfrm rot="2989172">
              <a:off x="2203188" y="4326058"/>
              <a:ext cx="854568" cy="352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30CM</a:t>
              </a:r>
            </a:p>
          </p:txBody>
        </p:sp>
      </p:grpSp>
      <p:sp>
        <p:nvSpPr>
          <p:cNvPr id="247" name="TextBox 246">
            <a:extLst>
              <a:ext uri="{FF2B5EF4-FFF2-40B4-BE49-F238E27FC236}">
                <a16:creationId xmlns:a16="http://schemas.microsoft.com/office/drawing/2014/main" id="{CA8B27A1-63A5-529B-33C3-529E74239485}"/>
              </a:ext>
            </a:extLst>
          </p:cNvPr>
          <p:cNvSpPr txBox="1"/>
          <p:nvPr/>
        </p:nvSpPr>
        <p:spPr>
          <a:xfrm>
            <a:off x="6870068" y="2754666"/>
            <a:ext cx="369332" cy="523167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85CM</a:t>
            </a: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7D99C4E-82AE-DEA7-1C55-BE2E16507FFE}"/>
              </a:ext>
            </a:extLst>
          </p:cNvPr>
          <p:cNvGrpSpPr/>
          <p:nvPr/>
        </p:nvGrpSpPr>
        <p:grpSpPr>
          <a:xfrm>
            <a:off x="7353876" y="921536"/>
            <a:ext cx="1914775" cy="1541790"/>
            <a:chOff x="6914772" y="985147"/>
            <a:chExt cx="1914775" cy="1541790"/>
          </a:xfrm>
        </p:grpSpPr>
        <p:pic>
          <p:nvPicPr>
            <p:cNvPr id="249" name="Picture 248">
              <a:extLst>
                <a:ext uri="{FF2B5EF4-FFF2-40B4-BE49-F238E27FC236}">
                  <a16:creationId xmlns:a16="http://schemas.microsoft.com/office/drawing/2014/main" id="{76949C0B-09F8-93DD-AE27-CD7AA7F4F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14772" y="985147"/>
              <a:ext cx="1545443" cy="1541790"/>
            </a:xfrm>
            <a:prstGeom prst="rect">
              <a:avLst/>
            </a:prstGeom>
          </p:spPr>
        </p:pic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672AC2FC-5B18-E778-2F0F-F308A6DAA770}"/>
                </a:ext>
              </a:extLst>
            </p:cNvPr>
            <p:cNvCxnSpPr>
              <a:cxnSpLocks/>
            </p:cNvCxnSpPr>
            <p:nvPr/>
          </p:nvCxnSpPr>
          <p:spPr>
            <a:xfrm>
              <a:off x="8515384" y="1143848"/>
              <a:ext cx="1034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F08A2A18-2AAF-0710-623F-4930B7B17867}"/>
                </a:ext>
              </a:extLst>
            </p:cNvPr>
            <p:cNvCxnSpPr>
              <a:cxnSpLocks/>
            </p:cNvCxnSpPr>
            <p:nvPr/>
          </p:nvCxnSpPr>
          <p:spPr>
            <a:xfrm>
              <a:off x="8515384" y="2379643"/>
              <a:ext cx="10347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CB788D1A-2CD6-6108-B884-105C82BC11C8}"/>
                </a:ext>
              </a:extLst>
            </p:cNvPr>
            <p:cNvCxnSpPr/>
            <p:nvPr/>
          </p:nvCxnSpPr>
          <p:spPr>
            <a:xfrm>
              <a:off x="8571123" y="1143848"/>
              <a:ext cx="0" cy="123579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D3D33D5F-6871-C60E-0A80-E51A4AEA5238}"/>
                </a:ext>
              </a:extLst>
            </p:cNvPr>
            <p:cNvSpPr txBox="1"/>
            <p:nvPr/>
          </p:nvSpPr>
          <p:spPr>
            <a:xfrm>
              <a:off x="8460215" y="1484362"/>
              <a:ext cx="369332" cy="511080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20CM</a:t>
              </a:r>
            </a:p>
          </p:txBody>
        </p:sp>
      </p:grpSp>
      <p:sp>
        <p:nvSpPr>
          <p:cNvPr id="271" name="Google Shape;227;p29">
            <a:extLst>
              <a:ext uri="{FF2B5EF4-FFF2-40B4-BE49-F238E27FC236}">
                <a16:creationId xmlns:a16="http://schemas.microsoft.com/office/drawing/2014/main" id="{7825059D-C60D-899A-6B9A-555BAA4F2B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4050" y="6408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6666"/>
              <a:buFont typeface="Arial"/>
              <a:buNone/>
            </a:pPr>
            <a:r>
              <a:rPr lang="en-US" dirty="0"/>
              <a:t>System Model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4234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>
            <a:spLocks noGrp="1"/>
          </p:cNvSpPr>
          <p:nvPr>
            <p:ph type="title" idx="4294967295"/>
          </p:nvPr>
        </p:nvSpPr>
        <p:spPr>
          <a:xfrm>
            <a:off x="218050" y="505527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800"/>
              <a:buFont typeface="Arial"/>
              <a:buNone/>
            </a:pPr>
            <a:r>
              <a:rPr lang="en" sz="1800" b="1">
                <a:latin typeface="Times New Roman"/>
                <a:ea typeface="Times New Roman"/>
                <a:cs typeface="Times New Roman"/>
                <a:sym typeface="Times New Roman"/>
              </a:rPr>
              <a:t>System Flow Chart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0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50" name="Google Shape;250;p30"/>
          <p:cNvSpPr/>
          <p:nvPr/>
        </p:nvSpPr>
        <p:spPr>
          <a:xfrm>
            <a:off x="1485075" y="1688200"/>
            <a:ext cx="1887000" cy="7500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System Initialization &amp; Calibration “Raspberry Pi, ESP32, Sensors, Display”</a:t>
            </a:r>
            <a:endParaRPr sz="1100" dirty="0"/>
          </a:p>
        </p:txBody>
      </p:sp>
      <p:sp>
        <p:nvSpPr>
          <p:cNvPr id="251" name="Google Shape;251;p30"/>
          <p:cNvSpPr/>
          <p:nvPr/>
        </p:nvSpPr>
        <p:spPr>
          <a:xfrm>
            <a:off x="113425" y="2810875"/>
            <a:ext cx="1290300" cy="5484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Measure Height ‘HC-SR04 Ultrasonic’</a:t>
            </a:r>
            <a:endParaRPr sz="1100" dirty="0"/>
          </a:p>
        </p:txBody>
      </p:sp>
      <p:sp>
        <p:nvSpPr>
          <p:cNvPr id="252" name="Google Shape;252;p30"/>
          <p:cNvSpPr/>
          <p:nvPr/>
        </p:nvSpPr>
        <p:spPr>
          <a:xfrm>
            <a:off x="1783425" y="2810875"/>
            <a:ext cx="1290300" cy="5484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Measure Weight ‘Load cell+HX711’</a:t>
            </a:r>
            <a:endParaRPr sz="1100"/>
          </a:p>
        </p:txBody>
      </p:sp>
      <p:sp>
        <p:nvSpPr>
          <p:cNvPr id="253" name="Google Shape;253;p30"/>
          <p:cNvSpPr/>
          <p:nvPr/>
        </p:nvSpPr>
        <p:spPr>
          <a:xfrm>
            <a:off x="3453413" y="2810875"/>
            <a:ext cx="1290300" cy="5484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Pulse &amp; Respiration ‘MAX30100’</a:t>
            </a:r>
            <a:endParaRPr sz="1100"/>
          </a:p>
        </p:txBody>
      </p:sp>
      <p:sp>
        <p:nvSpPr>
          <p:cNvPr id="254" name="Google Shape;254;p30"/>
          <p:cNvSpPr/>
          <p:nvPr/>
        </p:nvSpPr>
        <p:spPr>
          <a:xfrm>
            <a:off x="993425" y="3657300"/>
            <a:ext cx="1290300" cy="5484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SpO</a:t>
            </a:r>
            <a:r>
              <a:rPr lang="en" sz="1100" baseline="-25000"/>
              <a:t>2</a:t>
            </a:r>
            <a:r>
              <a:rPr lang="en" sz="1100"/>
              <a:t> Measurement ‘MAX30102’</a:t>
            </a:r>
            <a:endParaRPr sz="1100"/>
          </a:p>
        </p:txBody>
      </p:sp>
      <p:sp>
        <p:nvSpPr>
          <p:cNvPr id="255" name="Google Shape;255;p30"/>
          <p:cNvSpPr/>
          <p:nvPr/>
        </p:nvSpPr>
        <p:spPr>
          <a:xfrm>
            <a:off x="2631150" y="3657300"/>
            <a:ext cx="1290300" cy="5484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Temperature ‘MLX90614’</a:t>
            </a:r>
            <a:endParaRPr sz="1100"/>
          </a:p>
        </p:txBody>
      </p:sp>
      <p:sp>
        <p:nvSpPr>
          <p:cNvPr id="256" name="Google Shape;256;p30"/>
          <p:cNvSpPr/>
          <p:nvPr/>
        </p:nvSpPr>
        <p:spPr>
          <a:xfrm>
            <a:off x="2027550" y="910525"/>
            <a:ext cx="802062" cy="405000"/>
          </a:xfrm>
          <a:prstGeom prst="flowChartTerminator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</p:txBody>
      </p:sp>
      <p:sp>
        <p:nvSpPr>
          <p:cNvPr id="257" name="Google Shape;257;p30"/>
          <p:cNvSpPr/>
          <p:nvPr/>
        </p:nvSpPr>
        <p:spPr>
          <a:xfrm>
            <a:off x="6397950" y="1514550"/>
            <a:ext cx="1290300" cy="5484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Processing in Raspberry Pi</a:t>
            </a:r>
            <a:endParaRPr sz="1100" dirty="0"/>
          </a:p>
        </p:txBody>
      </p:sp>
      <p:sp>
        <p:nvSpPr>
          <p:cNvPr id="258" name="Google Shape;258;p30"/>
          <p:cNvSpPr/>
          <p:nvPr/>
        </p:nvSpPr>
        <p:spPr>
          <a:xfrm>
            <a:off x="6310063" y="2365213"/>
            <a:ext cx="1466075" cy="548400"/>
          </a:xfrm>
          <a:prstGeom prst="flowChartDecision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Health Status</a:t>
            </a:r>
            <a:endParaRPr sz="1100"/>
          </a:p>
        </p:txBody>
      </p:sp>
      <p:sp>
        <p:nvSpPr>
          <p:cNvPr id="259" name="Google Shape;259;p30"/>
          <p:cNvSpPr/>
          <p:nvPr/>
        </p:nvSpPr>
        <p:spPr>
          <a:xfrm>
            <a:off x="5254491" y="3215875"/>
            <a:ext cx="1643700" cy="5484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Display Basic Health information on screen</a:t>
            </a:r>
            <a:endParaRPr sz="1100"/>
          </a:p>
        </p:txBody>
      </p:sp>
      <p:sp>
        <p:nvSpPr>
          <p:cNvPr id="260" name="Google Shape;260;p30"/>
          <p:cNvSpPr/>
          <p:nvPr/>
        </p:nvSpPr>
        <p:spPr>
          <a:xfrm>
            <a:off x="7317025" y="3205650"/>
            <a:ext cx="1290300" cy="5484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Provide Recommendation</a:t>
            </a:r>
            <a:endParaRPr sz="1100" dirty="0"/>
          </a:p>
        </p:txBody>
      </p:sp>
      <p:sp>
        <p:nvSpPr>
          <p:cNvPr id="261" name="Google Shape;261;p30"/>
          <p:cNvSpPr/>
          <p:nvPr/>
        </p:nvSpPr>
        <p:spPr>
          <a:xfrm>
            <a:off x="6725950" y="4193750"/>
            <a:ext cx="802062" cy="405000"/>
          </a:xfrm>
          <a:prstGeom prst="flowChartTerminator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cxnSp>
        <p:nvCxnSpPr>
          <p:cNvPr id="262" name="Google Shape;262;p30"/>
          <p:cNvCxnSpPr>
            <a:stCxn id="256" idx="2"/>
            <a:endCxn id="250" idx="0"/>
          </p:cNvCxnSpPr>
          <p:nvPr/>
        </p:nvCxnSpPr>
        <p:spPr>
          <a:xfrm>
            <a:off x="2428581" y="1315525"/>
            <a:ext cx="0" cy="3726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3" name="Google Shape;263;p30"/>
          <p:cNvCxnSpPr/>
          <p:nvPr/>
        </p:nvCxnSpPr>
        <p:spPr>
          <a:xfrm rot="10800000" flipH="1">
            <a:off x="754900" y="2636475"/>
            <a:ext cx="3345600" cy="57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4" name="Google Shape;264;p30"/>
          <p:cNvCxnSpPr>
            <a:stCxn id="250" idx="2"/>
            <a:endCxn id="252" idx="0"/>
          </p:cNvCxnSpPr>
          <p:nvPr/>
        </p:nvCxnSpPr>
        <p:spPr>
          <a:xfrm>
            <a:off x="2428575" y="2438200"/>
            <a:ext cx="0" cy="3726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5" name="Google Shape;265;p30"/>
          <p:cNvCxnSpPr>
            <a:endCxn id="251" idx="0"/>
          </p:cNvCxnSpPr>
          <p:nvPr/>
        </p:nvCxnSpPr>
        <p:spPr>
          <a:xfrm>
            <a:off x="758575" y="2634775"/>
            <a:ext cx="0" cy="1761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6" name="Google Shape;266;p30"/>
          <p:cNvCxnSpPr>
            <a:endCxn id="253" idx="0"/>
          </p:cNvCxnSpPr>
          <p:nvPr/>
        </p:nvCxnSpPr>
        <p:spPr>
          <a:xfrm>
            <a:off x="4097363" y="2635075"/>
            <a:ext cx="1200" cy="1758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7" name="Google Shape;267;p30"/>
          <p:cNvCxnSpPr/>
          <p:nvPr/>
        </p:nvCxnSpPr>
        <p:spPr>
          <a:xfrm rot="10800000" flipH="1">
            <a:off x="755975" y="4443800"/>
            <a:ext cx="3344400" cy="75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8" name="Google Shape;268;p30"/>
          <p:cNvCxnSpPr/>
          <p:nvPr/>
        </p:nvCxnSpPr>
        <p:spPr>
          <a:xfrm rot="10800000" flipH="1">
            <a:off x="2428075" y="625650"/>
            <a:ext cx="4618500" cy="3989100"/>
          </a:xfrm>
          <a:prstGeom prst="bentConnector3">
            <a:avLst>
              <a:gd name="adj1" fmla="val 5267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9" name="Google Shape;269;p30"/>
          <p:cNvCxnSpPr/>
          <p:nvPr/>
        </p:nvCxnSpPr>
        <p:spPr>
          <a:xfrm>
            <a:off x="2429550" y="4447625"/>
            <a:ext cx="900" cy="1674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0" name="Google Shape;270;p30"/>
          <p:cNvSpPr/>
          <p:nvPr/>
        </p:nvSpPr>
        <p:spPr>
          <a:xfrm>
            <a:off x="6397963" y="767125"/>
            <a:ext cx="1290300" cy="5484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lin ang="540001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Data Collection in ESP32</a:t>
            </a:r>
            <a:endParaRPr sz="1100" dirty="0"/>
          </a:p>
        </p:txBody>
      </p:sp>
      <p:cxnSp>
        <p:nvCxnSpPr>
          <p:cNvPr id="271" name="Google Shape;271;p30"/>
          <p:cNvCxnSpPr>
            <a:stCxn id="270" idx="2"/>
            <a:endCxn id="257" idx="0"/>
          </p:cNvCxnSpPr>
          <p:nvPr/>
        </p:nvCxnSpPr>
        <p:spPr>
          <a:xfrm>
            <a:off x="7043113" y="1315525"/>
            <a:ext cx="0" cy="1989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2" name="Google Shape;272;p30"/>
          <p:cNvSpPr txBox="1"/>
          <p:nvPr/>
        </p:nvSpPr>
        <p:spPr>
          <a:xfrm>
            <a:off x="5592963" y="2555713"/>
            <a:ext cx="819537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Regular Readings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7834874" y="2577021"/>
            <a:ext cx="926683" cy="44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Irregular Readings </a:t>
            </a:r>
            <a:endParaRPr sz="1100" dirty="0">
              <a:solidFill>
                <a:schemeClr val="dk1"/>
              </a:solidFill>
            </a:endParaRPr>
          </a:p>
        </p:txBody>
      </p:sp>
      <p:cxnSp>
        <p:nvCxnSpPr>
          <p:cNvPr id="274" name="Google Shape;274;p30"/>
          <p:cNvCxnSpPr>
            <a:stCxn id="257" idx="2"/>
            <a:endCxn id="258" idx="0"/>
          </p:cNvCxnSpPr>
          <p:nvPr/>
        </p:nvCxnSpPr>
        <p:spPr>
          <a:xfrm>
            <a:off x="7043100" y="2062950"/>
            <a:ext cx="0" cy="3024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6" name="Google Shape;276;p30"/>
          <p:cNvCxnSpPr>
            <a:cxnSpLocks/>
            <a:stCxn id="273" idx="1"/>
            <a:endCxn id="273" idx="1"/>
          </p:cNvCxnSpPr>
          <p:nvPr/>
        </p:nvCxnSpPr>
        <p:spPr>
          <a:xfrm>
            <a:off x="7834874" y="2801484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30"/>
          <p:cNvCxnSpPr/>
          <p:nvPr/>
        </p:nvCxnSpPr>
        <p:spPr>
          <a:xfrm rot="10800000" flipH="1">
            <a:off x="6071425" y="3998700"/>
            <a:ext cx="1894200" cy="108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1" name="Google Shape;281;p30"/>
          <p:cNvCxnSpPr>
            <a:stCxn id="259" idx="2"/>
          </p:cNvCxnSpPr>
          <p:nvPr/>
        </p:nvCxnSpPr>
        <p:spPr>
          <a:xfrm flipH="1">
            <a:off x="6075141" y="3764275"/>
            <a:ext cx="1200" cy="2490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2" name="Google Shape;282;p30"/>
          <p:cNvCxnSpPr>
            <a:stCxn id="260" idx="2"/>
          </p:cNvCxnSpPr>
          <p:nvPr/>
        </p:nvCxnSpPr>
        <p:spPr>
          <a:xfrm flipH="1">
            <a:off x="7958275" y="3754050"/>
            <a:ext cx="3900" cy="2445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3" name="Google Shape;283;p30"/>
          <p:cNvCxnSpPr>
            <a:endCxn id="261" idx="0"/>
          </p:cNvCxnSpPr>
          <p:nvPr/>
        </p:nvCxnSpPr>
        <p:spPr>
          <a:xfrm flipH="1">
            <a:off x="7126981" y="4005350"/>
            <a:ext cx="1200" cy="1884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4" name="Google Shape;284;p30"/>
          <p:cNvCxnSpPr>
            <a:endCxn id="270" idx="0"/>
          </p:cNvCxnSpPr>
          <p:nvPr/>
        </p:nvCxnSpPr>
        <p:spPr>
          <a:xfrm>
            <a:off x="7042513" y="627025"/>
            <a:ext cx="600" cy="1401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5" name="Google Shape;285;p30"/>
          <p:cNvCxnSpPr>
            <a:stCxn id="252" idx="2"/>
          </p:cNvCxnSpPr>
          <p:nvPr/>
        </p:nvCxnSpPr>
        <p:spPr>
          <a:xfrm>
            <a:off x="2428575" y="3359275"/>
            <a:ext cx="300" cy="10905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6" name="Google Shape;286;p30"/>
          <p:cNvCxnSpPr>
            <a:stCxn id="251" idx="2"/>
          </p:cNvCxnSpPr>
          <p:nvPr/>
        </p:nvCxnSpPr>
        <p:spPr>
          <a:xfrm flipH="1">
            <a:off x="754075" y="3359275"/>
            <a:ext cx="4500" cy="1098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7" name="Google Shape;287;p30"/>
          <p:cNvCxnSpPr>
            <a:stCxn id="253" idx="2"/>
          </p:cNvCxnSpPr>
          <p:nvPr/>
        </p:nvCxnSpPr>
        <p:spPr>
          <a:xfrm>
            <a:off x="4098563" y="3359275"/>
            <a:ext cx="2400" cy="10893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8" name="Google Shape;288;p30"/>
          <p:cNvCxnSpPr>
            <a:stCxn id="254" idx="2"/>
          </p:cNvCxnSpPr>
          <p:nvPr/>
        </p:nvCxnSpPr>
        <p:spPr>
          <a:xfrm>
            <a:off x="1638575" y="4205700"/>
            <a:ext cx="1200" cy="2469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9" name="Google Shape;289;p30"/>
          <p:cNvCxnSpPr>
            <a:stCxn id="255" idx="2"/>
          </p:cNvCxnSpPr>
          <p:nvPr/>
        </p:nvCxnSpPr>
        <p:spPr>
          <a:xfrm flipH="1">
            <a:off x="3275700" y="4205700"/>
            <a:ext cx="600" cy="2412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20C313-92E2-418F-66A7-C50DDDF984C5}"/>
              </a:ext>
            </a:extLst>
          </p:cNvPr>
          <p:cNvCxnSpPr>
            <a:stCxn id="258" idx="3"/>
          </p:cNvCxnSpPr>
          <p:nvPr/>
        </p:nvCxnSpPr>
        <p:spPr>
          <a:xfrm flipV="1">
            <a:off x="7776138" y="2634775"/>
            <a:ext cx="437278" cy="46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33824D-4937-4D5F-98E5-CDA3F22F4A26}"/>
              </a:ext>
            </a:extLst>
          </p:cNvPr>
          <p:cNvCxnSpPr>
            <a:cxnSpLocks/>
          </p:cNvCxnSpPr>
          <p:nvPr/>
        </p:nvCxnSpPr>
        <p:spPr>
          <a:xfrm>
            <a:off x="8213416" y="3015574"/>
            <a:ext cx="0" cy="190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F7AA3BE-A77F-CA3D-3825-03852AA12460}"/>
              </a:ext>
            </a:extLst>
          </p:cNvPr>
          <p:cNvCxnSpPr/>
          <p:nvPr/>
        </p:nvCxnSpPr>
        <p:spPr>
          <a:xfrm>
            <a:off x="8218172" y="2634775"/>
            <a:ext cx="0" cy="710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C92779-2A2C-3AEB-CE0C-7880D3CC8940}"/>
              </a:ext>
            </a:extLst>
          </p:cNvPr>
          <p:cNvCxnSpPr/>
          <p:nvPr/>
        </p:nvCxnSpPr>
        <p:spPr>
          <a:xfrm flipV="1">
            <a:off x="5868029" y="2632456"/>
            <a:ext cx="437278" cy="46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E3A016-FCF7-ADF6-630D-B644813DD48A}"/>
              </a:ext>
            </a:extLst>
          </p:cNvPr>
          <p:cNvCxnSpPr/>
          <p:nvPr/>
        </p:nvCxnSpPr>
        <p:spPr>
          <a:xfrm>
            <a:off x="5868029" y="2632456"/>
            <a:ext cx="0" cy="710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CB4981C-4A22-52A4-2551-145BE9CE5D5F}"/>
              </a:ext>
            </a:extLst>
          </p:cNvPr>
          <p:cNvCxnSpPr>
            <a:cxnSpLocks/>
          </p:cNvCxnSpPr>
          <p:nvPr/>
        </p:nvCxnSpPr>
        <p:spPr>
          <a:xfrm>
            <a:off x="5868029" y="2966875"/>
            <a:ext cx="0" cy="2387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>
            <a:spLocks noGrp="1"/>
          </p:cNvSpPr>
          <p:nvPr>
            <p:ph type="title" idx="4294967295"/>
          </p:nvPr>
        </p:nvSpPr>
        <p:spPr>
          <a:xfrm>
            <a:off x="322650" y="5999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800"/>
              <a:buFont typeface="Arial"/>
              <a:buNone/>
            </a:pPr>
            <a:r>
              <a:rPr lang="en" sz="2400" b="1">
                <a:latin typeface="Times New Roman"/>
                <a:ea typeface="Times New Roman"/>
                <a:cs typeface="Times New Roman"/>
                <a:sym typeface="Times New Roman"/>
              </a:rPr>
              <a:t>Process Flow Chart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31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96" name="Google Shape;296;p31"/>
          <p:cNvSpPr/>
          <p:nvPr/>
        </p:nvSpPr>
        <p:spPr>
          <a:xfrm>
            <a:off x="1375025" y="1223675"/>
            <a:ext cx="859356" cy="346302"/>
          </a:xfrm>
          <a:prstGeom prst="flowChartTerminator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START</a:t>
            </a:r>
            <a:endParaRPr sz="1300"/>
          </a:p>
        </p:txBody>
      </p:sp>
      <p:sp>
        <p:nvSpPr>
          <p:cNvPr id="297" name="Google Shape;297;p31"/>
          <p:cNvSpPr/>
          <p:nvPr/>
        </p:nvSpPr>
        <p:spPr>
          <a:xfrm>
            <a:off x="1307900" y="1788700"/>
            <a:ext cx="993600" cy="541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</a:rPr>
              <a:t>Patient </a:t>
            </a:r>
            <a:endParaRPr sz="1200" b="1" dirty="0">
              <a:solidFill>
                <a:schemeClr val="tx1"/>
              </a:solidFill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687950" y="2611775"/>
            <a:ext cx="2233500" cy="9093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Data from following sensors  HC-SR04, Load Cell, MAX30100, MAX30102, MLX90614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719300" y="3802350"/>
            <a:ext cx="2170800" cy="6537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ESP32 Real-time Data Acquisition</a:t>
            </a: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3642275" y="1223675"/>
            <a:ext cx="2170800" cy="6537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Raspberry Pi 4B GUI, Data Processing</a:t>
            </a: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3642275" y="2330500"/>
            <a:ext cx="2170800" cy="6537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Touchscreen Display 'Basic Health Info'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6436975" y="1877375"/>
            <a:ext cx="2170800" cy="6537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QR Code 'Detailed Report'</a:t>
            </a: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4298000" y="3437325"/>
            <a:ext cx="859356" cy="346302"/>
          </a:xfrm>
          <a:prstGeom prst="flowChartTerminator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cxnSp>
        <p:nvCxnSpPr>
          <p:cNvPr id="304" name="Google Shape;304;p31"/>
          <p:cNvCxnSpPr>
            <a:endCxn id="297" idx="0"/>
          </p:cNvCxnSpPr>
          <p:nvPr/>
        </p:nvCxnSpPr>
        <p:spPr>
          <a:xfrm>
            <a:off x="1804700" y="1570000"/>
            <a:ext cx="0" cy="2187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5" name="Google Shape;305;p31"/>
          <p:cNvCxnSpPr>
            <a:stCxn id="299" idx="2"/>
            <a:endCxn id="300" idx="1"/>
          </p:cNvCxnSpPr>
          <p:nvPr/>
        </p:nvCxnSpPr>
        <p:spPr>
          <a:xfrm rot="-5400000">
            <a:off x="1270700" y="2084550"/>
            <a:ext cx="2905500" cy="1837500"/>
          </a:xfrm>
          <a:prstGeom prst="bentConnector4">
            <a:avLst>
              <a:gd name="adj1" fmla="val -4412"/>
              <a:gd name="adj2" fmla="val 79537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6" name="Google Shape;306;p31"/>
          <p:cNvCxnSpPr>
            <a:endCxn id="300" idx="1"/>
          </p:cNvCxnSpPr>
          <p:nvPr/>
        </p:nvCxnSpPr>
        <p:spPr>
          <a:xfrm rot="10800000" flipH="1">
            <a:off x="3279275" y="1550525"/>
            <a:ext cx="3630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" name="Google Shape;307;p31"/>
          <p:cNvCxnSpPr>
            <a:stCxn id="300" idx="2"/>
            <a:endCxn id="301" idx="0"/>
          </p:cNvCxnSpPr>
          <p:nvPr/>
        </p:nvCxnSpPr>
        <p:spPr>
          <a:xfrm>
            <a:off x="4727675" y="1877375"/>
            <a:ext cx="0" cy="4530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8" name="Google Shape;308;p31"/>
          <p:cNvCxnSpPr>
            <a:stCxn id="301" idx="2"/>
            <a:endCxn id="303" idx="0"/>
          </p:cNvCxnSpPr>
          <p:nvPr/>
        </p:nvCxnSpPr>
        <p:spPr>
          <a:xfrm>
            <a:off x="4727675" y="2984200"/>
            <a:ext cx="0" cy="4530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9" name="Google Shape;309;p31"/>
          <p:cNvCxnSpPr>
            <a:stCxn id="300" idx="3"/>
            <a:endCxn id="302" idx="0"/>
          </p:cNvCxnSpPr>
          <p:nvPr/>
        </p:nvCxnSpPr>
        <p:spPr>
          <a:xfrm>
            <a:off x="5813075" y="1550525"/>
            <a:ext cx="1709400" cy="327000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0" name="Google Shape;310;p31"/>
          <p:cNvCxnSpPr>
            <a:stCxn id="302" idx="2"/>
            <a:endCxn id="303" idx="3"/>
          </p:cNvCxnSpPr>
          <p:nvPr/>
        </p:nvCxnSpPr>
        <p:spPr>
          <a:xfrm rot="5400000">
            <a:off x="5800225" y="1888325"/>
            <a:ext cx="1079400" cy="2364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1" name="Google Shape;311;p31"/>
          <p:cNvCxnSpPr>
            <a:endCxn id="303" idx="3"/>
          </p:cNvCxnSpPr>
          <p:nvPr/>
        </p:nvCxnSpPr>
        <p:spPr>
          <a:xfrm rot="10800000">
            <a:off x="5157356" y="3610476"/>
            <a:ext cx="369000" cy="3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2" name="Google Shape;312;p31"/>
          <p:cNvCxnSpPr>
            <a:stCxn id="297" idx="2"/>
            <a:endCxn id="298" idx="0"/>
          </p:cNvCxnSpPr>
          <p:nvPr/>
        </p:nvCxnSpPr>
        <p:spPr>
          <a:xfrm>
            <a:off x="1804700" y="2330500"/>
            <a:ext cx="0" cy="2814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3" name="Google Shape;313;p31"/>
          <p:cNvCxnSpPr>
            <a:stCxn id="298" idx="2"/>
            <a:endCxn id="299" idx="0"/>
          </p:cNvCxnSpPr>
          <p:nvPr/>
        </p:nvCxnSpPr>
        <p:spPr>
          <a:xfrm>
            <a:off x="1804700" y="3521075"/>
            <a:ext cx="0" cy="2814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BD8B-80FB-8E13-134A-3824216B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BMI= Weight(kg)/ [Height(m)]</a:t>
            </a:r>
            <a:r>
              <a:rPr lang="en-US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Google Shape;294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6300652" y="2104755"/>
            <a:ext cx="3323063" cy="262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lvl="0"/>
            <a:r>
              <a:rPr kumimoji="0" lang="e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900" i="1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Tadi Chandrasekhar</a:t>
            </a:r>
            <a:r>
              <a:rPr lang="en-US" sz="900" i="1" u="sng" dirty="0">
                <a:solidFill>
                  <a:schemeClr val="tx1"/>
                </a:solidFill>
              </a:rPr>
              <a:t> </a:t>
            </a:r>
            <a:r>
              <a:rPr kumimoji="0" lang="en" sz="9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</a:t>
            </a:r>
            <a:r>
              <a:rPr kumimoji="0" lang="en" sz="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BMI-for-age))</a:t>
            </a:r>
            <a:r>
              <a:rPr kumimoji="0" lang="e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lang="e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kumimoji="0" lang="e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)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296" name="Google Shape;296;p31"/>
          <p:cNvGraphicFramePr/>
          <p:nvPr>
            <p:extLst>
              <p:ext uri="{D42A27DB-BD31-4B8C-83A1-F6EECF244321}">
                <p14:modId xmlns:p14="http://schemas.microsoft.com/office/powerpoint/2010/main" val="1499018414"/>
              </p:ext>
            </p:extLst>
          </p:nvPr>
        </p:nvGraphicFramePr>
        <p:xfrm>
          <a:off x="2446472" y="1736221"/>
          <a:ext cx="4682238" cy="24442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41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84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BMI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84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＜18.5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Underweight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84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18.5-24.9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weight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84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25-29.9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Overweight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84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≥30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Obese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465065" y="656100"/>
            <a:ext cx="7148700" cy="3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Temperature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Average body temperature: 37 degree Celsius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303" name="Google Shape;303;p32"/>
          <p:cNvGraphicFramePr/>
          <p:nvPr>
            <p:extLst>
              <p:ext uri="{D42A27DB-BD31-4B8C-83A1-F6EECF244321}">
                <p14:modId xmlns:p14="http://schemas.microsoft.com/office/powerpoint/2010/main" val="392896233"/>
              </p:ext>
            </p:extLst>
          </p:nvPr>
        </p:nvGraphicFramePr>
        <p:xfrm>
          <a:off x="2469625" y="2206881"/>
          <a:ext cx="4074700" cy="18739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6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noStrik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  <a:endParaRPr strike="noStrik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noStrik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strike="noStrik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(36.55 C - 37.27 C)</a:t>
                      </a:r>
                      <a:endParaRPr strike="noStrik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noStrik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Temperature</a:t>
                      </a:r>
                      <a:endParaRPr strike="noStrik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trike="noStrik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than (38 C)</a:t>
                      </a:r>
                      <a:endParaRPr strike="noStrik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noStrik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Fever</a:t>
                      </a:r>
                      <a:endParaRPr strike="noStrik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 (35 C)</a:t>
                      </a:r>
                      <a:endParaRPr strike="noStrik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Hypothermia</a:t>
                      </a:r>
                      <a:endParaRPr strike="noStrik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295;p31">
            <a:extLst>
              <a:ext uri="{FF2B5EF4-FFF2-40B4-BE49-F238E27FC236}">
                <a16:creationId xmlns:a16="http://schemas.microsoft.com/office/drawing/2014/main" id="{53EB4750-BBF3-4F94-676F-C991A534A14C}"/>
              </a:ext>
            </a:extLst>
          </p:cNvPr>
          <p:cNvSpPr txBox="1"/>
          <p:nvPr/>
        </p:nvSpPr>
        <p:spPr>
          <a:xfrm>
            <a:off x="6544325" y="4190034"/>
            <a:ext cx="3313111" cy="59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kumimoji="0" lang="en" sz="1000" b="0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1000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Kristin Mitchell</a:t>
            </a:r>
            <a:r>
              <a:rPr kumimoji="0" lang="en" sz="1000" b="0" i="1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)</a:t>
            </a:r>
            <a:r>
              <a:rPr kumimoji="0" lang="en" sz="10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kumimoji="0" lang="en" sz="1000" b="0" i="0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2024.)</a:t>
            </a:r>
            <a:endParaRPr kumimoji="0" sz="1000" b="0" i="0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0CE6BB88-BBA8-A08A-0105-CEB1A951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>
            <a:extLst>
              <a:ext uri="{FF2B5EF4-FFF2-40B4-BE49-F238E27FC236}">
                <a16:creationId xmlns:a16="http://schemas.microsoft.com/office/drawing/2014/main" id="{324D97F9-4AF0-6FDE-B70B-9FAF855670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>
            <a:extLst>
              <a:ext uri="{FF2B5EF4-FFF2-40B4-BE49-F238E27FC236}">
                <a16:creationId xmlns:a16="http://schemas.microsoft.com/office/drawing/2014/main" id="{FB3053B6-E7B4-7020-E9C9-F37280CF9B83}"/>
              </a:ext>
            </a:extLst>
          </p:cNvPr>
          <p:cNvSpPr txBox="1"/>
          <p:nvPr/>
        </p:nvSpPr>
        <p:spPr>
          <a:xfrm>
            <a:off x="465065" y="656100"/>
            <a:ext cx="6943919" cy="51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Rate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295;p31">
            <a:extLst>
              <a:ext uri="{FF2B5EF4-FFF2-40B4-BE49-F238E27FC236}">
                <a16:creationId xmlns:a16="http://schemas.microsoft.com/office/drawing/2014/main" id="{16FB928D-2C97-CA40-742C-1F43105540D0}"/>
              </a:ext>
            </a:extLst>
          </p:cNvPr>
          <p:cNvSpPr txBox="1"/>
          <p:nvPr/>
        </p:nvSpPr>
        <p:spPr>
          <a:xfrm>
            <a:off x="7235701" y="4115693"/>
            <a:ext cx="3313111" cy="59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000" i="1" dirty="0">
                <a:solidFill>
                  <a:schemeClr val="tx1"/>
                </a:solidFill>
              </a:rPr>
              <a:t>(Elizabeth Christman,2016)</a:t>
            </a:r>
            <a:endParaRPr kumimoji="0" sz="6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C98F6C-D941-E07A-0736-F45BEFBE5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500752"/>
              </p:ext>
            </p:extLst>
          </p:nvPr>
        </p:nvGraphicFramePr>
        <p:xfrm>
          <a:off x="628650" y="1943750"/>
          <a:ext cx="7886700" cy="1859280"/>
        </p:xfrm>
        <a:graphic>
          <a:graphicData uri="http://schemas.openxmlformats.org/drawingml/2006/table">
            <a:tbl>
              <a:tblPr>
                <a:tableStyleId>{5A3B0F86-60E2-4D67-AF58-C098A416A69F}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29385877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83222973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55917263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2331511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 Range (bpm)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Below Normal (Bradycardia)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Above Normal (Tachycardia)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94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School Age (6–12 years)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70 –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 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 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617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Adolescents (13–18 years)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60 –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 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 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129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Adults (19–33 years)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60 –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 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&gt; 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31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37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45A767B7-2990-BFD0-E3AC-EB0F38E4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>
            <a:extLst>
              <a:ext uri="{FF2B5EF4-FFF2-40B4-BE49-F238E27FC236}">
                <a16:creationId xmlns:a16="http://schemas.microsoft.com/office/drawing/2014/main" id="{1204A979-8A34-6F7B-FD0B-87A3DC8EDD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>
            <a:extLst>
              <a:ext uri="{FF2B5EF4-FFF2-40B4-BE49-F238E27FC236}">
                <a16:creationId xmlns:a16="http://schemas.microsoft.com/office/drawing/2014/main" id="{53CA0FF4-7A5C-56C8-D651-58485B019CB1}"/>
              </a:ext>
            </a:extLst>
          </p:cNvPr>
          <p:cNvSpPr txBox="1"/>
          <p:nvPr/>
        </p:nvSpPr>
        <p:spPr>
          <a:xfrm>
            <a:off x="650918" y="757243"/>
            <a:ext cx="6943919" cy="51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Respiration Rate</a:t>
            </a:r>
          </a:p>
        </p:txBody>
      </p:sp>
      <p:sp>
        <p:nvSpPr>
          <p:cNvPr id="2" name="Google Shape;295;p31">
            <a:extLst>
              <a:ext uri="{FF2B5EF4-FFF2-40B4-BE49-F238E27FC236}">
                <a16:creationId xmlns:a16="http://schemas.microsoft.com/office/drawing/2014/main" id="{C6196BF8-8DAA-3726-8E61-3B88DF406FDE}"/>
              </a:ext>
            </a:extLst>
          </p:cNvPr>
          <p:cNvSpPr txBox="1"/>
          <p:nvPr/>
        </p:nvSpPr>
        <p:spPr>
          <a:xfrm>
            <a:off x="7235701" y="3885234"/>
            <a:ext cx="3313111" cy="59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000" dirty="0"/>
              <a:t>(Cleveland Clinic, 2025)</a:t>
            </a:r>
            <a:endParaRPr kumimoji="0" sz="6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89BA4C-6953-8FC3-F67D-CE3A944DE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033269"/>
              </p:ext>
            </p:extLst>
          </p:nvPr>
        </p:nvGraphicFramePr>
        <p:xfrm>
          <a:off x="628650" y="1848841"/>
          <a:ext cx="7886700" cy="1036320"/>
        </p:xfrm>
        <a:graphic>
          <a:graphicData uri="http://schemas.openxmlformats.org/drawingml/2006/table">
            <a:tbl>
              <a:tblPr>
                <a:tableStyleId>{5A3B0F86-60E2-4D67-AF58-C098A416A69F}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95523729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26876773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84312086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066860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 Range (breaths/min)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Below 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Above 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551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19–33 yrs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12–18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 breathing (Bradypnea)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 breathing (Tachypnea)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961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996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D92C2A83-548D-D79A-5A66-741A3B02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>
            <a:extLst>
              <a:ext uri="{FF2B5EF4-FFF2-40B4-BE49-F238E27FC236}">
                <a16:creationId xmlns:a16="http://schemas.microsoft.com/office/drawing/2014/main" id="{9CD66D83-3474-BFE0-1D8A-61F8AD6514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>
            <a:extLst>
              <a:ext uri="{FF2B5EF4-FFF2-40B4-BE49-F238E27FC236}">
                <a16:creationId xmlns:a16="http://schemas.microsoft.com/office/drawing/2014/main" id="{E5BFF6C8-4B0E-1E30-7F20-57D771F67ABB}"/>
              </a:ext>
            </a:extLst>
          </p:cNvPr>
          <p:cNvSpPr txBox="1"/>
          <p:nvPr/>
        </p:nvSpPr>
        <p:spPr>
          <a:xfrm>
            <a:off x="650918" y="757243"/>
            <a:ext cx="6943919" cy="51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Respiration Rate</a:t>
            </a:r>
          </a:p>
        </p:txBody>
      </p:sp>
      <p:sp>
        <p:nvSpPr>
          <p:cNvPr id="2" name="Google Shape;295;p31">
            <a:extLst>
              <a:ext uri="{FF2B5EF4-FFF2-40B4-BE49-F238E27FC236}">
                <a16:creationId xmlns:a16="http://schemas.microsoft.com/office/drawing/2014/main" id="{9A9DAAC5-6192-CDA7-97DB-CF9057D063ED}"/>
              </a:ext>
            </a:extLst>
          </p:cNvPr>
          <p:cNvSpPr txBox="1"/>
          <p:nvPr/>
        </p:nvSpPr>
        <p:spPr>
          <a:xfrm>
            <a:off x="7235701" y="3885234"/>
            <a:ext cx="3313111" cy="59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000" dirty="0"/>
              <a:t>(Cleveland Clinic, 2025)</a:t>
            </a:r>
            <a:endParaRPr kumimoji="0" sz="6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2AD6E8-1D1B-320B-B7F2-D6DDB997C20C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848841"/>
          <a:ext cx="7886700" cy="1036320"/>
        </p:xfrm>
        <a:graphic>
          <a:graphicData uri="http://schemas.openxmlformats.org/drawingml/2006/table">
            <a:tbl>
              <a:tblPr>
                <a:tableStyleId>{5A3B0F86-60E2-4D67-AF58-C098A416A69F}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95523729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26876773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84312086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066860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 Range (breaths/min)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Below 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Above 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551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19–33 yrs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12–18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 breathing (Bradypnea)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 breathing (Tachypnea)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961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486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D0937972-FDBA-1248-9154-D944ED36F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>
            <a:extLst>
              <a:ext uri="{FF2B5EF4-FFF2-40B4-BE49-F238E27FC236}">
                <a16:creationId xmlns:a16="http://schemas.microsoft.com/office/drawing/2014/main" id="{1F7D2BEE-36E7-F5E8-B53C-6AA1DDB72D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>
            <a:extLst>
              <a:ext uri="{FF2B5EF4-FFF2-40B4-BE49-F238E27FC236}">
                <a16:creationId xmlns:a16="http://schemas.microsoft.com/office/drawing/2014/main" id="{96D3EF93-685B-C8A0-90D9-3444F56101E1}"/>
              </a:ext>
            </a:extLst>
          </p:cNvPr>
          <p:cNvSpPr txBox="1"/>
          <p:nvPr/>
        </p:nvSpPr>
        <p:spPr>
          <a:xfrm>
            <a:off x="650918" y="757243"/>
            <a:ext cx="6943919" cy="51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295;p31">
            <a:extLst>
              <a:ext uri="{FF2B5EF4-FFF2-40B4-BE49-F238E27FC236}">
                <a16:creationId xmlns:a16="http://schemas.microsoft.com/office/drawing/2014/main" id="{81BF4ACA-A14E-A52E-527A-A5A2D99399E3}"/>
              </a:ext>
            </a:extLst>
          </p:cNvPr>
          <p:cNvSpPr txBox="1"/>
          <p:nvPr/>
        </p:nvSpPr>
        <p:spPr>
          <a:xfrm>
            <a:off x="7212350" y="3944707"/>
            <a:ext cx="3313111" cy="59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(John P. Cunha,2019)</a:t>
            </a:r>
            <a:endParaRPr kumimoji="0" sz="10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3" name="Google Shape;316;p34">
            <a:extLst>
              <a:ext uri="{FF2B5EF4-FFF2-40B4-BE49-F238E27FC236}">
                <a16:creationId xmlns:a16="http://schemas.microsoft.com/office/drawing/2014/main" id="{5C818EA2-6B2F-CD7C-0481-501C0CD76C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8647561"/>
              </p:ext>
            </p:extLst>
          </p:nvPr>
        </p:nvGraphicFramePr>
        <p:xfrm>
          <a:off x="1931650" y="1609361"/>
          <a:ext cx="5280700" cy="2056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3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Condition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SpO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Normal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95% to 100% on both adults and children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Abnormal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80% to 85%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Critical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Below 67%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558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>
            <a:spLocks noGrp="1"/>
          </p:cNvSpPr>
          <p:nvPr>
            <p:ph type="title"/>
          </p:nvPr>
        </p:nvSpPr>
        <p:spPr>
          <a:xfrm>
            <a:off x="628650" y="5267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6666"/>
              <a:buFont typeface="Arial"/>
              <a:buNone/>
            </a:pPr>
            <a:r>
              <a:rPr lang="en" sz="2400" b="1">
                <a:latin typeface="Times New Roman"/>
                <a:ea typeface="Times New Roman"/>
                <a:cs typeface="Times New Roman"/>
                <a:sym typeface="Times New Roman"/>
              </a:rPr>
              <a:t>Bills of Material</a:t>
            </a:r>
            <a:endParaRPr/>
          </a:p>
        </p:txBody>
      </p:sp>
      <p:graphicFrame>
        <p:nvGraphicFramePr>
          <p:cNvPr id="319" name="Google Shape;319;p32"/>
          <p:cNvGraphicFramePr/>
          <p:nvPr>
            <p:extLst>
              <p:ext uri="{D42A27DB-BD31-4B8C-83A1-F6EECF244321}">
                <p14:modId xmlns:p14="http://schemas.microsoft.com/office/powerpoint/2010/main" val="3813193944"/>
              </p:ext>
            </p:extLst>
          </p:nvPr>
        </p:nvGraphicFramePr>
        <p:xfrm>
          <a:off x="0" y="931738"/>
          <a:ext cx="9144000" cy="4236600"/>
        </p:xfrm>
        <a:graphic>
          <a:graphicData uri="http://schemas.openxmlformats.org/drawingml/2006/table">
            <a:tbl>
              <a:tblPr>
                <a:noFill/>
                <a:tableStyleId>{8EA6E1AE-5CCD-4C3B-98FC-328A10B10C3D}</a:tableStyleId>
              </a:tblPr>
              <a:tblGrid>
                <a:gridCol w="428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7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2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1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6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93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32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3625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 Image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rate(Nu.)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</a:t>
                      </a:r>
                      <a:endParaRPr sz="1200" u="none" strike="noStrike" cap="none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253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Raspberry Pi 4B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Model Name:</a:t>
                      </a:r>
                      <a:r>
                        <a:rPr lang="en" sz="1200" dirty="0"/>
                        <a:t>Raspberry Pi 4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RAM Memory Installed Size :</a:t>
                      </a:r>
                      <a:r>
                        <a:rPr lang="en" sz="1200" dirty="0"/>
                        <a:t>	4 GB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CPU Model :	</a:t>
                      </a:r>
                      <a:r>
                        <a:rPr lang="en" sz="1200" dirty="0"/>
                        <a:t>ARMv7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Product Dimensions‎ :</a:t>
                      </a:r>
                      <a:endParaRPr sz="12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 3 x 8 x 8 cm; 10 g</a:t>
                      </a: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5,759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5,759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 u="sng">
                          <a:solidFill>
                            <a:srgbClr val="F7CB4D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https://surl.li/hbretu</a:t>
                      </a:r>
                      <a:r>
                        <a:rPr lang="en" sz="1200" i="1">
                          <a:solidFill>
                            <a:srgbClr val="F7CB4D"/>
                          </a:solidFill>
                        </a:rPr>
                        <a:t> </a:t>
                      </a:r>
                      <a:endParaRPr sz="1200" i="1">
                        <a:solidFill>
                          <a:srgbClr val="F7CB4D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160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 Capacitive Touchscreen LCD Display</a:t>
                      </a:r>
                      <a:endParaRPr sz="1200" dirty="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Product Dimensions :</a:t>
                      </a:r>
                      <a:endParaRPr sz="1200" b="1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/>
                        <a:t>18 x 10 x 9 cm; 406 g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/>
                        <a:t>Item model number: </a:t>
                      </a:r>
                      <a:r>
                        <a:rPr lang="en" sz="1200"/>
                        <a:t>‎7inch (B)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/>
                        <a:t>Processor Count: </a:t>
                      </a:r>
                      <a:r>
                        <a:rPr lang="en" sz="1200"/>
                        <a:t>‎1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/>
                        <a:t>Memory Clock Speed:</a:t>
                      </a:r>
                      <a:r>
                        <a:rPr lang="en" sz="1200"/>
                        <a:t> 800 MHz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5,679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5,679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 u="sng">
                          <a:solidFill>
                            <a:srgbClr val="F7CB4D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https://surl.lu/qubudb</a:t>
                      </a:r>
                      <a:r>
                        <a:rPr lang="en" sz="1200" i="1">
                          <a:solidFill>
                            <a:srgbClr val="F7CB4D"/>
                          </a:solidFill>
                        </a:rPr>
                        <a:t> </a:t>
                      </a:r>
                      <a:endParaRPr sz="1200" i="1">
                        <a:solidFill>
                          <a:srgbClr val="F7CB4D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20" name="Google Shape;32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6350" y="1919073"/>
            <a:ext cx="1362804" cy="90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1700" y="3440300"/>
            <a:ext cx="1295349" cy="104909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2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" name="Google Shape;328;p33"/>
          <p:cNvGraphicFramePr/>
          <p:nvPr>
            <p:extLst>
              <p:ext uri="{D42A27DB-BD31-4B8C-83A1-F6EECF244321}">
                <p14:modId xmlns:p14="http://schemas.microsoft.com/office/powerpoint/2010/main" val="3733454818"/>
              </p:ext>
            </p:extLst>
          </p:nvPr>
        </p:nvGraphicFramePr>
        <p:xfrm>
          <a:off x="0" y="636314"/>
          <a:ext cx="9144000" cy="3943181"/>
        </p:xfrm>
        <a:graphic>
          <a:graphicData uri="http://schemas.openxmlformats.org/drawingml/2006/table">
            <a:tbl>
              <a:tblPr>
                <a:noFill/>
                <a:tableStyleId>{8EA6E1AE-5CCD-4C3B-98FC-328A10B10C3D}</a:tableStyleId>
              </a:tblPr>
              <a:tblGrid>
                <a:gridCol w="42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3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1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660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  <a:endParaRPr sz="1200" u="none" strike="noStrike" cap="none" dirty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</a:t>
                      </a:r>
                      <a:endParaRPr sz="12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 Image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rate(Nu.)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17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MAX30100 Heart Rate</a:t>
                      </a:r>
                      <a:endParaRPr sz="120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/>
                        <a:t>Item Weight :</a:t>
                      </a:r>
                      <a:r>
                        <a:rPr lang="en" sz="1200" dirty="0"/>
                        <a:t>‎2 g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Product Dimensions: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/>
                        <a:t>8 x 4 x 10 cm; 2 g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/>
                        <a:t>Item model number :  </a:t>
                      </a:r>
                      <a:r>
                        <a:rPr lang="en" sz="1200" dirty="0"/>
                        <a:t>BE-001758</a:t>
                      </a: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1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253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253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 u="sng">
                          <a:solidFill>
                            <a:srgbClr val="F7CB4D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https://surl.li/wnprto</a:t>
                      </a:r>
                      <a:r>
                        <a:rPr lang="en" sz="1200" i="1">
                          <a:solidFill>
                            <a:srgbClr val="F7CB4D"/>
                          </a:solidFill>
                        </a:rPr>
                        <a:t> </a:t>
                      </a:r>
                      <a:endParaRPr sz="1200" i="1">
                        <a:solidFill>
                          <a:srgbClr val="F7CB4D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6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Oximeter Sensor Module</a:t>
                      </a:r>
                      <a:endParaRPr sz="1200" dirty="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/>
                        <a:t>Model number : </a:t>
                      </a:r>
                      <a:r>
                        <a:rPr lang="en" sz="1200" dirty="0"/>
                        <a:t>SEN0159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/>
                        <a:t>No. of Memory Sticks: </a:t>
                      </a:r>
                      <a:r>
                        <a:rPr lang="en" sz="1200" dirty="0"/>
                        <a:t>1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Item model number</a:t>
                      </a:r>
                      <a:endParaRPr sz="12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/>
                        <a:t>:</a:t>
                      </a:r>
                      <a:r>
                        <a:rPr lang="en" sz="1200" dirty="0"/>
                        <a:t>I‎SEN0159</a:t>
                      </a: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335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335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 u="sng">
                          <a:solidFill>
                            <a:srgbClr val="F7CB4D"/>
                          </a:solidFill>
                          <a:highlight>
                            <a:schemeClr val="lt1"/>
                          </a:highlight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https://surli.cc/tcwcih</a:t>
                      </a:r>
                      <a:endParaRPr sz="1200" i="1">
                        <a:solidFill>
                          <a:srgbClr val="F7CB4D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i="1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57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>
                          <a:solidFill>
                            <a:srgbClr val="0F1111"/>
                          </a:solidFill>
                          <a:highlight>
                            <a:schemeClr val="lt1"/>
                          </a:highlight>
                        </a:rPr>
                        <a:t>Contactless Temperature sensor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</a:rPr>
                        <a:t>Product Dimensions	‎: 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</a:rPr>
                        <a:t>2.9 x 11.7 x 30.1 cm; 400 g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 dirty="0">
                          <a:solidFill>
                            <a:schemeClr val="dk1"/>
                          </a:solidFill>
                        </a:rPr>
                        <a:t>Item model no. 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</a:rPr>
                        <a:t>‎RC-A-41273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1,549</a:t>
                      </a:r>
                      <a:endParaRPr sz="5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1,549</a:t>
                      </a:r>
                      <a:endParaRPr sz="7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i="1" u="sng" dirty="0">
                          <a:solidFill>
                            <a:srgbClr val="F7CB4D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https://surl.li/owcjpp</a:t>
                      </a:r>
                      <a:endParaRPr i="1" dirty="0">
                        <a:solidFill>
                          <a:srgbClr val="F7CB4D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29" name="Google Shape;32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4479" y="1597526"/>
            <a:ext cx="889950" cy="882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3"/>
          <p:cNvPicPr preferRelativeResize="0"/>
          <p:nvPr/>
        </p:nvPicPr>
        <p:blipFill rotWithShape="1">
          <a:blip r:embed="rId7">
            <a:alphaModFix/>
          </a:blip>
          <a:srcRect t="15411"/>
          <a:stretch/>
        </p:blipFill>
        <p:spPr>
          <a:xfrm>
            <a:off x="4230170" y="2663047"/>
            <a:ext cx="978654" cy="723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3" title="51Mu4KhuxqL._SX522_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09979" y="3441665"/>
            <a:ext cx="934450" cy="7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3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" name="Google Shape;337;p34"/>
          <p:cNvGraphicFramePr/>
          <p:nvPr>
            <p:extLst>
              <p:ext uri="{D42A27DB-BD31-4B8C-83A1-F6EECF244321}">
                <p14:modId xmlns:p14="http://schemas.microsoft.com/office/powerpoint/2010/main" val="1208672382"/>
              </p:ext>
            </p:extLst>
          </p:nvPr>
        </p:nvGraphicFramePr>
        <p:xfrm>
          <a:off x="0" y="641564"/>
          <a:ext cx="9144000" cy="3860371"/>
        </p:xfrm>
        <a:graphic>
          <a:graphicData uri="http://schemas.openxmlformats.org/drawingml/2006/table">
            <a:tbl>
              <a:tblPr>
                <a:noFill/>
                <a:tableStyleId>{8EA6E1AE-5CCD-4C3B-98FC-328A10B10C3D}</a:tableStyleId>
              </a:tblPr>
              <a:tblGrid>
                <a:gridCol w="42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6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9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3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 Image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rate(Nu.)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30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4PCS 50KG Load Cell </a:t>
                      </a:r>
                      <a:endParaRPr sz="120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/>
                        <a:t>Colour:‎</a:t>
                      </a:r>
                      <a:r>
                        <a:rPr lang="en" sz="1200"/>
                        <a:t>4 sensor 1 module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/>
                        <a:t>No. of Memory Sticks :</a:t>
                      </a:r>
                      <a:r>
                        <a:rPr lang="en" sz="1200"/>
                        <a:t>1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/>
                        <a:t>Item Weight :</a:t>
                      </a:r>
                      <a:r>
                        <a:rPr lang="en" sz="1200"/>
                        <a:t> ‎0.06 g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Item model no. :</a:t>
                      </a:r>
                      <a:r>
                        <a:rPr lang="en" sz="1200"/>
                        <a:t> FZ6096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2,220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2,220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 dirty="0">
                          <a:solidFill>
                            <a:srgbClr val="FFC000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https://surl.li/dvbena</a:t>
                      </a:r>
                      <a:r>
                        <a:rPr lang="en" i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i="1" dirty="0">
                        <a:solidFill>
                          <a:srgbClr val="FFC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Ultrasonic Distance Sensor</a:t>
                      </a:r>
                      <a:endParaRPr sz="120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/>
                        <a:t>Item Weight: </a:t>
                      </a:r>
                      <a:r>
                        <a:rPr lang="en" sz="1200"/>
                        <a:t>‎12 g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/>
                        <a:t>Product Dimensions:</a:t>
                      </a:r>
                      <a:r>
                        <a:rPr lang="en" sz="1200"/>
                        <a:t> 4 x 2 x 1 cm; 12 g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Item model no.</a:t>
                      </a:r>
                      <a:r>
                        <a:rPr lang="en" sz="1200"/>
                        <a:t>HC-SR04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245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245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1" dirty="0">
                          <a:solidFill>
                            <a:srgbClr val="FFC000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https://surl.li/wvbkel</a:t>
                      </a:r>
                      <a:r>
                        <a:rPr lang="en" sz="1200" i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sz="1200" i="1" dirty="0">
                        <a:solidFill>
                          <a:srgbClr val="FFC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3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ESP32 WROOM-32</a:t>
                      </a:r>
                      <a:endParaRPr sz="1200" dirty="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RAM Memory Installed Size :</a:t>
                      </a:r>
                      <a:r>
                        <a:rPr lang="en" sz="1200"/>
                        <a:t>520 KB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Memory Storage Capacity :</a:t>
                      </a:r>
                      <a:r>
                        <a:rPr lang="en" sz="1200"/>
                        <a:t>4 MB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CPU Model :	</a:t>
                      </a:r>
                      <a:r>
                        <a:rPr lang="en" sz="1200"/>
                        <a:t>Dual-Core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589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589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 dirty="0">
                          <a:solidFill>
                            <a:srgbClr val="FFC000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https://surl.li/eblppn</a:t>
                      </a:r>
                      <a:r>
                        <a:rPr lang="en" i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i="1" dirty="0">
                        <a:solidFill>
                          <a:srgbClr val="FFC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38" name="Google Shape;338;p34" title="71f0Xwjkk2L._SX522_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2575" y="1385617"/>
            <a:ext cx="885737" cy="814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02575" y="2509150"/>
            <a:ext cx="938850" cy="7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4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341" name="Google Shape;341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18800" y="3493202"/>
            <a:ext cx="1106400" cy="91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" name="Google Shape;346;p35"/>
          <p:cNvGraphicFramePr/>
          <p:nvPr>
            <p:extLst>
              <p:ext uri="{D42A27DB-BD31-4B8C-83A1-F6EECF244321}">
                <p14:modId xmlns:p14="http://schemas.microsoft.com/office/powerpoint/2010/main" val="3875291907"/>
              </p:ext>
            </p:extLst>
          </p:nvPr>
        </p:nvGraphicFramePr>
        <p:xfrm>
          <a:off x="104079" y="602166"/>
          <a:ext cx="8861502" cy="4438043"/>
        </p:xfrm>
        <a:graphic>
          <a:graphicData uri="http://schemas.openxmlformats.org/drawingml/2006/table">
            <a:tbl>
              <a:tblPr>
                <a:noFill/>
                <a:tableStyleId>{8EA6E1AE-5CCD-4C3B-98FC-328A10B10C3D}</a:tableStyleId>
              </a:tblPr>
              <a:tblGrid>
                <a:gridCol w="414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9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34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83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642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 Image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rate(Nu.)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9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Mini UPS Power Bank</a:t>
                      </a:r>
                      <a:endParaRPr sz="120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Voltage:</a:t>
                      </a:r>
                      <a:r>
                        <a:rPr lang="en" sz="1200"/>
                        <a:t>‎12 Volts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Power Source :	</a:t>
                      </a:r>
                      <a:r>
                        <a:rPr lang="en" sz="1200"/>
                        <a:t> Corded Electric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Batteries Included 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Lithium Battery :   </a:t>
                      </a:r>
                      <a:r>
                        <a:rPr lang="en" sz="1200"/>
                        <a:t>Energy Content 14.8 Watt Hours</a:t>
                      </a:r>
                      <a:endParaRPr sz="12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899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899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https://url-shortener.me/55GE</a:t>
                      </a:r>
                      <a:endParaRPr lang="en-US" i="1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 dirty="0">
                        <a:solidFill>
                          <a:srgbClr val="F7CB4D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1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Jumper Wires</a:t>
                      </a:r>
                      <a:endParaRPr sz="1200" dirty="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Product Dimensions: </a:t>
                      </a:r>
                      <a:r>
                        <a:rPr lang="en" sz="1200"/>
                        <a:t>4.8 x 12 x 14.6 cm; 80 g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189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189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 u="sng">
                          <a:solidFill>
                            <a:srgbClr val="F7CB4D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https://surl.li/envhfy</a:t>
                      </a:r>
                      <a:r>
                        <a:rPr lang="en" i="1">
                          <a:solidFill>
                            <a:srgbClr val="F7CB4D"/>
                          </a:solidFill>
                        </a:rPr>
                        <a:t> </a:t>
                      </a:r>
                      <a:endParaRPr i="1">
                        <a:solidFill>
                          <a:srgbClr val="F7CB4D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49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11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Long electronic wire.</a:t>
                      </a:r>
                      <a:endParaRPr sz="120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Material : </a:t>
                      </a:r>
                      <a:r>
                        <a:rPr lang="en" sz="1200" dirty="0"/>
                        <a:t>‎Silicone</a:t>
                      </a: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325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325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 u="sng" dirty="0">
                          <a:solidFill>
                            <a:srgbClr val="F7CB4D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https://surl.li/etvykg</a:t>
                      </a:r>
                      <a:r>
                        <a:rPr lang="en" i="1" dirty="0">
                          <a:solidFill>
                            <a:srgbClr val="F7CB4D"/>
                          </a:solidFill>
                        </a:rPr>
                        <a:t> </a:t>
                      </a:r>
                      <a:endParaRPr i="1" dirty="0">
                        <a:solidFill>
                          <a:srgbClr val="F7CB4D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 dirty="0">
                        <a:solidFill>
                          <a:srgbClr val="F7CB4D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7" name="Google Shape;347;p35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348" name="Google Shape;348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85375" y="1494625"/>
            <a:ext cx="973263" cy="11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9700" y="3081333"/>
            <a:ext cx="797125" cy="5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41579" y="4037475"/>
            <a:ext cx="909625" cy="657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5EB44D4A-B7CF-66BE-83FF-EA7696EF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" name="Google Shape;346;p35">
            <a:extLst>
              <a:ext uri="{FF2B5EF4-FFF2-40B4-BE49-F238E27FC236}">
                <a16:creationId xmlns:a16="http://schemas.microsoft.com/office/drawing/2014/main" id="{5B51B38E-7144-42BB-FDF7-AFF7C32B6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1128376"/>
              </p:ext>
            </p:extLst>
          </p:nvPr>
        </p:nvGraphicFramePr>
        <p:xfrm>
          <a:off x="104079" y="602166"/>
          <a:ext cx="8861502" cy="2393416"/>
        </p:xfrm>
        <a:graphic>
          <a:graphicData uri="http://schemas.openxmlformats.org/drawingml/2006/table">
            <a:tbl>
              <a:tblPr>
                <a:noFill/>
                <a:tableStyleId>{8EA6E1AE-5CCD-4C3B-98FC-328A10B10C3D}</a:tableStyleId>
              </a:tblPr>
              <a:tblGrid>
                <a:gridCol w="414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9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34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83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642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Specification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 Image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rate(Nu.)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54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9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12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>
                          <a:solidFill>
                            <a:srgbClr val="0F1111"/>
                          </a:solidFill>
                          <a:highlight>
                            <a:srgbClr val="FFFFFF"/>
                          </a:highlight>
                        </a:rPr>
                        <a:t>Mini UPS Power Bank</a:t>
                      </a:r>
                      <a:endParaRPr sz="1200" dirty="0">
                        <a:solidFill>
                          <a:srgbClr val="0F1111"/>
                        </a:solidFill>
                        <a:highlight>
                          <a:srgbClr val="FFFFFF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Pure </a:t>
                      </a:r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5V 3A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Output with right angle DC connector.</a:t>
                      </a:r>
                    </a:p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1.5 </a:t>
                      </a:r>
                      <a:r>
                        <a:rPr lang="en-US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Mtr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Long dc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Dc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output cord.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578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578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i="1" dirty="0">
                          <a:solidFill>
                            <a:schemeClr val="accent4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https://l1nq.com/sPi9F</a:t>
                      </a:r>
                      <a:endParaRPr lang="en-US" i="1" dirty="0">
                        <a:solidFill>
                          <a:schemeClr val="accent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i="1" dirty="0">
                        <a:solidFill>
                          <a:schemeClr val="accent4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i="1" dirty="0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454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7" name="Google Shape;347;p35">
            <a:extLst>
              <a:ext uri="{FF2B5EF4-FFF2-40B4-BE49-F238E27FC236}">
                <a16:creationId xmlns:a16="http://schemas.microsoft.com/office/drawing/2014/main" id="{A2A864F3-0C55-CB49-F95E-2448D125F8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5F7A0-AEA7-DA70-2007-4D6B2D111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447" y="1416571"/>
            <a:ext cx="963105" cy="122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22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356" name="Google Shape;356;p36"/>
          <p:cNvSpPr txBox="1">
            <a:spLocks noGrp="1"/>
          </p:cNvSpPr>
          <p:nvPr>
            <p:ph type="title"/>
          </p:nvPr>
        </p:nvSpPr>
        <p:spPr>
          <a:xfrm>
            <a:off x="628650" y="6931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6666"/>
              <a:buFont typeface="Arial"/>
              <a:buNone/>
            </a:pPr>
            <a:r>
              <a:rPr lang="e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Total budget Calculation</a:t>
            </a:r>
            <a:endParaRPr dirty="0"/>
          </a:p>
        </p:txBody>
      </p:sp>
      <p:sp>
        <p:nvSpPr>
          <p:cNvPr id="357" name="Google Shape;357;p36"/>
          <p:cNvSpPr txBox="1"/>
          <p:nvPr/>
        </p:nvSpPr>
        <p:spPr>
          <a:xfrm>
            <a:off x="628650" y="1098150"/>
            <a:ext cx="7886700" cy="20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Total cost of component :</a:t>
            </a: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Nu. 17,970.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Fabrication Cost : </a:t>
            </a: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Nu. 1,500.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Times New Roman"/>
                <a:ea typeface="Times New Roman"/>
                <a:cs typeface="Times New Roman"/>
                <a:sym typeface="Times New Roman"/>
              </a:rPr>
              <a:t>Total Project Cost : </a:t>
            </a: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Nu .19,470.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>
            <a:spLocks noGrp="1"/>
          </p:cNvSpPr>
          <p:nvPr>
            <p:ph type="sldNum" idx="12"/>
          </p:nvPr>
        </p:nvSpPr>
        <p:spPr>
          <a:xfrm>
            <a:off x="6251034" y="354423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2" name="Google Shape;356;p36">
            <a:extLst>
              <a:ext uri="{FF2B5EF4-FFF2-40B4-BE49-F238E27FC236}">
                <a16:creationId xmlns:a16="http://schemas.microsoft.com/office/drawing/2014/main" id="{936A3A09-25BE-F69E-206F-097FBAA746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7035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6666"/>
              <a:buFont typeface="Arial"/>
              <a:buNone/>
            </a:pPr>
            <a:r>
              <a:rPr lang="en" sz="2400" b="1" dirty="0">
                <a:latin typeface="Times New Roman"/>
                <a:cs typeface="Times New Roman"/>
                <a:sym typeface="Times New Roman"/>
              </a:rPr>
              <a:t>Power Consumption Table 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7AFCDB-5E12-F30C-3451-8B599D3F5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815501"/>
              </p:ext>
            </p:extLst>
          </p:nvPr>
        </p:nvGraphicFramePr>
        <p:xfrm>
          <a:off x="40887" y="1098152"/>
          <a:ext cx="9062226" cy="3392903"/>
        </p:xfrm>
        <a:graphic>
          <a:graphicData uri="http://schemas.openxmlformats.org/drawingml/2006/table">
            <a:tbl>
              <a:tblPr>
                <a:tableStyleId>{5A3B0F86-60E2-4D67-AF58-C098A416A69F}</a:tableStyleId>
              </a:tblPr>
              <a:tblGrid>
                <a:gridCol w="1510371">
                  <a:extLst>
                    <a:ext uri="{9D8B030D-6E8A-4147-A177-3AD203B41FA5}">
                      <a16:colId xmlns:a16="http://schemas.microsoft.com/office/drawing/2014/main" val="2560884000"/>
                    </a:ext>
                  </a:extLst>
                </a:gridCol>
                <a:gridCol w="1510371">
                  <a:extLst>
                    <a:ext uri="{9D8B030D-6E8A-4147-A177-3AD203B41FA5}">
                      <a16:colId xmlns:a16="http://schemas.microsoft.com/office/drawing/2014/main" val="3129095930"/>
                    </a:ext>
                  </a:extLst>
                </a:gridCol>
                <a:gridCol w="1510371">
                  <a:extLst>
                    <a:ext uri="{9D8B030D-6E8A-4147-A177-3AD203B41FA5}">
                      <a16:colId xmlns:a16="http://schemas.microsoft.com/office/drawing/2014/main" val="1302914270"/>
                    </a:ext>
                  </a:extLst>
                </a:gridCol>
                <a:gridCol w="1510371">
                  <a:extLst>
                    <a:ext uri="{9D8B030D-6E8A-4147-A177-3AD203B41FA5}">
                      <a16:colId xmlns:a16="http://schemas.microsoft.com/office/drawing/2014/main" val="2097088964"/>
                    </a:ext>
                  </a:extLst>
                </a:gridCol>
                <a:gridCol w="1510371">
                  <a:extLst>
                    <a:ext uri="{9D8B030D-6E8A-4147-A177-3AD203B41FA5}">
                      <a16:colId xmlns:a16="http://schemas.microsoft.com/office/drawing/2014/main" val="2325982942"/>
                    </a:ext>
                  </a:extLst>
                </a:gridCol>
                <a:gridCol w="1510371">
                  <a:extLst>
                    <a:ext uri="{9D8B030D-6E8A-4147-A177-3AD203B41FA5}">
                      <a16:colId xmlns:a16="http://schemas.microsoft.com/office/drawing/2014/main" val="2202459164"/>
                    </a:ext>
                  </a:extLst>
                </a:gridCol>
              </a:tblGrid>
              <a:tr h="425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Voltage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Draw (Approx.)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= V x I(W)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1652678687"/>
                  </a:ext>
                </a:extLst>
              </a:tr>
              <a:tr h="775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 4B (4GB)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 mA (idle) → 1.2 A (full load with display)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~6.0 W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computer, GUI, QR code, logging</a:t>
                      </a: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1702659439"/>
                  </a:ext>
                </a:extLst>
              </a:tr>
              <a:tr h="95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Waveshare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7" HDMI Display (Capacitive Touch)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~500 mA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~2.5 W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Touchscreen &amp; display</a:t>
                      </a: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819938534"/>
                  </a:ext>
                </a:extLst>
              </a:tr>
              <a:tr h="600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DevKit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3.3V / 5V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~160 mA (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active peak)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~0.8 W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hub &amp; communication</a:t>
                      </a: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3092380601"/>
                  </a:ext>
                </a:extLst>
              </a:tr>
              <a:tr h="600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MAX30100 (Pulse + Respiration)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1.8V–5V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~600 µA (active mode)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~0.003 W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 power</a:t>
                      </a: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164866253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2B94F9A-3D8D-A152-A567-B9CE4A573442}"/>
              </a:ext>
            </a:extLst>
          </p:cNvPr>
          <p:cNvSpPr/>
          <p:nvPr/>
        </p:nvSpPr>
        <p:spPr>
          <a:xfrm>
            <a:off x="6995532" y="3479180"/>
            <a:ext cx="361902" cy="273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4B2AC71B-73CA-090F-395E-0A09130B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>
            <a:extLst>
              <a:ext uri="{FF2B5EF4-FFF2-40B4-BE49-F238E27FC236}">
                <a16:creationId xmlns:a16="http://schemas.microsoft.com/office/drawing/2014/main" id="{EA48AA7F-DA0E-3367-8FA5-654A1D02BC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251034" y="354423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2" name="Google Shape;356;p36">
            <a:extLst>
              <a:ext uri="{FF2B5EF4-FFF2-40B4-BE49-F238E27FC236}">
                <a16:creationId xmlns:a16="http://schemas.microsoft.com/office/drawing/2014/main" id="{592FEC4E-0808-AC0D-F749-CB89FA068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7035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6666"/>
              <a:buFont typeface="Arial"/>
              <a:buNone/>
            </a:pPr>
            <a:r>
              <a:rPr lang="en" sz="2400" b="1" dirty="0">
                <a:latin typeface="Times New Roman"/>
                <a:cs typeface="Times New Roman"/>
                <a:sym typeface="Times New Roman"/>
              </a:rPr>
              <a:t>Power Consumption Table 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39F593-15EA-E61D-FC1C-7F9741C55572}"/>
              </a:ext>
            </a:extLst>
          </p:cNvPr>
          <p:cNvSpPr/>
          <p:nvPr/>
        </p:nvSpPr>
        <p:spPr>
          <a:xfrm>
            <a:off x="6995532" y="3479180"/>
            <a:ext cx="361902" cy="273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23CCA7-EDDA-C4D3-3CCC-B04A5301B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690516"/>
              </p:ext>
            </p:extLst>
          </p:nvPr>
        </p:nvGraphicFramePr>
        <p:xfrm>
          <a:off x="137532" y="1137426"/>
          <a:ext cx="8868936" cy="3027656"/>
        </p:xfrm>
        <a:graphic>
          <a:graphicData uri="http://schemas.openxmlformats.org/drawingml/2006/table">
            <a:tbl>
              <a:tblPr>
                <a:tableStyleId>{5A3B0F86-60E2-4D67-AF58-C098A416A69F}</a:tableStyleId>
              </a:tblPr>
              <a:tblGrid>
                <a:gridCol w="1478156">
                  <a:extLst>
                    <a:ext uri="{9D8B030D-6E8A-4147-A177-3AD203B41FA5}">
                      <a16:colId xmlns:a16="http://schemas.microsoft.com/office/drawing/2014/main" val="2565194863"/>
                    </a:ext>
                  </a:extLst>
                </a:gridCol>
                <a:gridCol w="1478156">
                  <a:extLst>
                    <a:ext uri="{9D8B030D-6E8A-4147-A177-3AD203B41FA5}">
                      <a16:colId xmlns:a16="http://schemas.microsoft.com/office/drawing/2014/main" val="4252768399"/>
                    </a:ext>
                  </a:extLst>
                </a:gridCol>
                <a:gridCol w="1478156">
                  <a:extLst>
                    <a:ext uri="{9D8B030D-6E8A-4147-A177-3AD203B41FA5}">
                      <a16:colId xmlns:a16="http://schemas.microsoft.com/office/drawing/2014/main" val="1123143851"/>
                    </a:ext>
                  </a:extLst>
                </a:gridCol>
                <a:gridCol w="1478156">
                  <a:extLst>
                    <a:ext uri="{9D8B030D-6E8A-4147-A177-3AD203B41FA5}">
                      <a16:colId xmlns:a16="http://schemas.microsoft.com/office/drawing/2014/main" val="1149284452"/>
                    </a:ext>
                  </a:extLst>
                </a:gridCol>
                <a:gridCol w="1478156">
                  <a:extLst>
                    <a:ext uri="{9D8B030D-6E8A-4147-A177-3AD203B41FA5}">
                      <a16:colId xmlns:a16="http://schemas.microsoft.com/office/drawing/2014/main" val="3717623348"/>
                    </a:ext>
                  </a:extLst>
                </a:gridCol>
                <a:gridCol w="1478156">
                  <a:extLst>
                    <a:ext uri="{9D8B030D-6E8A-4147-A177-3AD203B41FA5}">
                      <a16:colId xmlns:a16="http://schemas.microsoft.com/office/drawing/2014/main" val="1608641870"/>
                    </a:ext>
                  </a:extLst>
                </a:gridCol>
              </a:tblGrid>
              <a:tr h="394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Voltage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Draw (Approx.)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= V x I(W)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1002853764"/>
                  </a:ext>
                </a:extLst>
              </a:tr>
              <a:tr h="394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MAX30102 (SpO₂)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1.8V–5V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 mA (active mode)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~0.005 W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 power</a:t>
                      </a: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856161464"/>
                  </a:ext>
                </a:extLst>
              </a:tr>
              <a:tr h="394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MLX90614 (Temp)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3.3V–5V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~1.5 mA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~0.008 W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I²C, negligible load</a:t>
                      </a: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226397039"/>
                  </a:ext>
                </a:extLst>
              </a:tr>
              <a:tr h="557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Cell (50 kg ×4) + HX711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~1.5 mA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~0.008 W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only during reading</a:t>
                      </a: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2026274568"/>
                  </a:ext>
                </a:extLst>
              </a:tr>
              <a:tr h="557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HC-SR04 Ultrasonic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~15 mA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~0.075 W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pulses during measurement</a:t>
                      </a: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2264348556"/>
                  </a:ext>
                </a:extLst>
              </a:tr>
              <a:tr h="719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Backup Pack (5V, 20,000 </a:t>
                      </a:r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typical)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up to 2.1–3A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~37 Wh</a:t>
                      </a:r>
                    </a:p>
                  </a:txBody>
                  <a:tcPr marL="39265" marR="39265" marT="19632" marB="19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Powers Pi, display, ESP32, sensors</a:t>
                      </a:r>
                    </a:p>
                  </a:txBody>
                  <a:tcPr marL="39265" marR="39265" marT="19632" marB="19632" anchor="ctr"/>
                </a:tc>
                <a:extLst>
                  <a:ext uri="{0D108BD9-81ED-4DB2-BD59-A6C34878D82A}">
                    <a16:rowId xmlns:a16="http://schemas.microsoft.com/office/drawing/2014/main" val="1648837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286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F48FDE1D-D9B6-7B47-1573-7D659D469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>
            <a:extLst>
              <a:ext uri="{FF2B5EF4-FFF2-40B4-BE49-F238E27FC236}">
                <a16:creationId xmlns:a16="http://schemas.microsoft.com/office/drawing/2014/main" id="{EE48E0CC-BCB2-E274-6C8A-7F98A46B16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251034" y="354423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2" name="Google Shape;356;p36">
            <a:extLst>
              <a:ext uri="{FF2B5EF4-FFF2-40B4-BE49-F238E27FC236}">
                <a16:creationId xmlns:a16="http://schemas.microsoft.com/office/drawing/2014/main" id="{E6A786E2-FAB7-E874-A400-337D888846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837" y="542307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Power Requirement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37487F-4EB1-816C-2A5F-A288EEE3C5CF}"/>
              </a:ext>
            </a:extLst>
          </p:cNvPr>
          <p:cNvSpPr/>
          <p:nvPr/>
        </p:nvSpPr>
        <p:spPr>
          <a:xfrm>
            <a:off x="6995532" y="3479180"/>
            <a:ext cx="361902" cy="273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CDAAB1-93B3-EC7D-EF6F-A21B1F39A9C7}"/>
                  </a:ext>
                </a:extLst>
              </p:cNvPr>
              <p:cNvSpPr txBox="1"/>
              <p:nvPr/>
            </p:nvSpPr>
            <p:spPr>
              <a:xfrm>
                <a:off x="292030" y="867084"/>
                <a:ext cx="7990314" cy="3532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1.Base load (Raspberry Pi + Display + ESP32)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≈ 9.3 W.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2.Sensors combined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≈ 0.1 W 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3.Total average consumption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≈ 9.5W</a:t>
                </a:r>
              </a:p>
              <a:p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Considering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 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𝟓𝐖</m:t>
                    </m:r>
                  </m:oMath>
                </a14:m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Total Power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10 W</a:t>
                </a:r>
              </a:p>
              <a:p>
                <a:r>
                  <a:rPr lang="en-US" sz="1800" b="1" dirty="0"/>
                  <a:t>Runtime Estimate </a:t>
                </a:r>
              </a:p>
              <a:p>
                <a:r>
                  <a:rPr lang="en-US" sz="1800" b="1" dirty="0"/>
                  <a:t>	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smtClean="0"/>
                      <m:t>Battery</m:t>
                    </m:r>
                    <m:r>
                      <m:rPr>
                        <m:nor/>
                      </m:rPr>
                      <a:rPr lang="en-US" sz="1800" i="1" smtClean="0"/>
                      <m:t> </m:t>
                    </m:r>
                    <m:r>
                      <m:rPr>
                        <m:nor/>
                      </m:rPr>
                      <a:rPr lang="en-US" sz="1800" i="1" smtClean="0"/>
                      <m:t>Wh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=20</m:t>
                    </m:r>
                    <m:r>
                      <m:rPr>
                        <m:nor/>
                      </m:rPr>
                      <a:rPr lang="en-US" sz="1800" i="1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en-US" sz="1800" i="1">
                        <a:latin typeface="Cambria Math" panose="02040503050406030204" pitchFamily="18" charset="0"/>
                      </a:rPr>
                      <m:t>Ah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×5</m:t>
                    </m:r>
                    <m:r>
                      <m:rPr>
                        <m:nor/>
                      </m:rPr>
                      <a:rPr lang="en-US" sz="1800" i="1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en-US" sz="1800" i="1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𝟏𝟎𝟎</m:t>
                    </m:r>
                    <m:r>
                      <m:rPr>
                        <m:nor/>
                      </m:rPr>
                      <a:rPr lang="en-US" sz="1800" b="1" i="1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en-US" sz="1800" b="1" i="1">
                        <a:latin typeface="Cambria Math" panose="02040503050406030204" pitchFamily="18" charset="0"/>
                      </a:rPr>
                      <m:t>Wh</m:t>
                    </m:r>
                  </m:oMath>
                </a14:m>
                <a:endParaRPr lang="en-US" sz="1800" b="1" dirty="0"/>
              </a:p>
              <a:p>
                <a:pPr>
                  <a:buNone/>
                </a:pPr>
                <a:r>
                  <a:rPr lang="en-US" sz="1800" dirty="0"/>
                  <a:t>	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/>
                      <m:t>Runtime</m:t>
                    </m:r>
                    <m:r>
                      <m:rPr>
                        <m:nor/>
                      </m:rPr>
                      <a:rPr lang="en-US" sz="1800" i="1"/>
                      <m:t> (</m:t>
                    </m:r>
                    <m:r>
                      <m:rPr>
                        <m:nor/>
                      </m:rPr>
                      <a:rPr lang="en-US" sz="1800" i="1"/>
                      <m:t>ideal</m:t>
                    </m:r>
                    <m:r>
                      <m:rPr>
                        <m:nor/>
                      </m:rPr>
                      <a:rPr lang="en-US" sz="1800" i="1"/>
                      <m:t>)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80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nor/>
                      </m:rPr>
                      <a:rPr lang="ar-AE" sz="1800" i="1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en-US" sz="1800" i="1">
                        <a:latin typeface="Cambria Math" panose="02040503050406030204" pitchFamily="18" charset="0"/>
                      </a:rPr>
                      <m:t>hours</m:t>
                    </m:r>
                  </m:oMath>
                </a14:m>
                <a:endParaRPr lang="en-US" sz="1800" dirty="0"/>
              </a:p>
              <a:p>
                <a:pPr>
                  <a:buNone/>
                </a:pPr>
                <a:r>
                  <a:rPr lang="en-US" sz="1800" dirty="0"/>
                  <a:t>	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/>
                      <m:t>Accounting</m:t>
                    </m:r>
                    <m:r>
                      <m:rPr>
                        <m:nor/>
                      </m:rPr>
                      <a:rPr lang="en-US" sz="1800" i="1"/>
                      <m:t> </m:t>
                    </m:r>
                    <m:r>
                      <m:rPr>
                        <m:nor/>
                      </m:rPr>
                      <a:rPr lang="en-US" sz="1800" i="1"/>
                      <m:t>for</m:t>
                    </m:r>
                    <m:r>
                      <m:rPr>
                        <m:nor/>
                      </m:rPr>
                      <a:rPr lang="en-US" sz="1800" i="1"/>
                      <m:t> </m:t>
                    </m:r>
                    <m:r>
                      <m:rPr>
                        <m:nor/>
                      </m:rPr>
                      <a:rPr lang="en-US" sz="1800" i="1"/>
                      <m:t>efficiency</m:t>
                    </m:r>
                    <m:r>
                      <m:rPr>
                        <m:nor/>
                      </m:rPr>
                      <a:rPr lang="en-US" sz="1800" i="1"/>
                      <m:t> ( </m:t>
                    </m:r>
                    <m:r>
                      <m:rPr>
                        <m:nor/>
                      </m:rPr>
                      <a:rPr lang="en-US" sz="1800" i="1"/>
                      <m:t>85</m:t>
                    </m:r>
                    <m:r>
                      <m:rPr>
                        <m:nor/>
                      </m:rPr>
                      <a:rPr lang="en-US" sz="1800" i="1"/>
                      <m:t>%)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85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nor/>
                      </m:rPr>
                      <a:rPr lang="en-US" sz="1800" i="1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en-US" sz="1800" i="1">
                        <a:latin typeface="Cambria Math" panose="02040503050406030204" pitchFamily="18" charset="0"/>
                      </a:rPr>
                      <m:t>hours</m:t>
                    </m:r>
                    <m:r>
                      <m:rPr>
                        <m:nor/>
                      </m:rP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CDAAB1-93B3-EC7D-EF6F-A21B1F39A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30" y="867084"/>
                <a:ext cx="7990314" cy="3532762"/>
              </a:xfrm>
              <a:prstGeom prst="rect">
                <a:avLst/>
              </a:prstGeom>
              <a:blipFill>
                <a:blip r:embed="rId3"/>
                <a:stretch>
                  <a:fillRect l="-686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71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"/>
          <p:cNvSpPr txBox="1">
            <a:spLocks noGrp="1"/>
          </p:cNvSpPr>
          <p:nvPr>
            <p:ph type="title"/>
          </p:nvPr>
        </p:nvSpPr>
        <p:spPr>
          <a:xfrm>
            <a:off x="628650" y="693152"/>
            <a:ext cx="78867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ct val="116666"/>
              <a:buFont typeface="Arial"/>
              <a:buNone/>
            </a:pPr>
            <a:r>
              <a:rPr lang="en" sz="2400" b="1"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/>
          </a:p>
        </p:txBody>
      </p:sp>
      <p:sp>
        <p:nvSpPr>
          <p:cNvPr id="368" name="Google Shape;368;p38"/>
          <p:cNvSpPr txBox="1"/>
          <p:nvPr/>
        </p:nvSpPr>
        <p:spPr>
          <a:xfrm>
            <a:off x="628650" y="1098150"/>
            <a:ext cx="7886700" cy="20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arabicPeriod"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Measures BMI, pulse rate, SpO</a:t>
            </a:r>
            <a:r>
              <a:rPr lang="en" sz="1800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, respiratory rate, and temperature.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Provides accessible, real-time readings with user-friendly interface.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Generates a simple health index.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8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>
            <a:spLocks noGrp="1"/>
          </p:cNvSpPr>
          <p:nvPr>
            <p:ph type="title"/>
          </p:nvPr>
        </p:nvSpPr>
        <p:spPr>
          <a:xfrm>
            <a:off x="584350" y="715171"/>
            <a:ext cx="75525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800"/>
              <a:buFont typeface="Arial"/>
              <a:buNone/>
            </a:pPr>
            <a:r>
              <a:rPr lang="en"/>
              <a:t>Work Plan (7</a:t>
            </a:r>
            <a:r>
              <a:rPr lang="en" baseline="30000"/>
              <a:t>th</a:t>
            </a:r>
            <a:r>
              <a:rPr lang="en"/>
              <a:t> Semester)</a:t>
            </a:r>
            <a:endParaRPr/>
          </a:p>
        </p:txBody>
      </p:sp>
      <p:sp>
        <p:nvSpPr>
          <p:cNvPr id="375" name="Google Shape;375;p39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graphicFrame>
        <p:nvGraphicFramePr>
          <p:cNvPr id="376" name="Google Shape;376;p39"/>
          <p:cNvGraphicFramePr/>
          <p:nvPr/>
        </p:nvGraphicFramePr>
        <p:xfrm>
          <a:off x="133825" y="1390350"/>
          <a:ext cx="8876350" cy="2667550"/>
        </p:xfrm>
        <a:graphic>
          <a:graphicData uri="http://schemas.openxmlformats.org/drawingml/2006/table">
            <a:tbl>
              <a:tblPr>
                <a:noFill/>
                <a:tableStyleId>{33B7B46B-CAE9-4DFD-B6E0-7027480E5EDC}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31250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Activity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Aug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Sep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Oct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Nov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Dec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Topic Finalization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Literature Review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Proposal Presentation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System Design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First Review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Components Procurement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ctr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Control Algorithm Development</a:t>
                      </a:r>
                      <a:endParaRPr sz="1000"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 txBox="1">
            <a:spLocks noGrp="1"/>
          </p:cNvSpPr>
          <p:nvPr>
            <p:ph type="title"/>
          </p:nvPr>
        </p:nvSpPr>
        <p:spPr>
          <a:xfrm>
            <a:off x="584350" y="715171"/>
            <a:ext cx="7552500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800"/>
              <a:buFont typeface="Arial"/>
              <a:buNone/>
            </a:pPr>
            <a:r>
              <a:rPr lang="en"/>
              <a:t>Work Plan (8</a:t>
            </a:r>
            <a:r>
              <a:rPr lang="en" baseline="30000"/>
              <a:t>th</a:t>
            </a:r>
            <a:r>
              <a:rPr lang="en"/>
              <a:t> Semester)</a:t>
            </a:r>
            <a:endParaRPr/>
          </a:p>
        </p:txBody>
      </p:sp>
      <p:sp>
        <p:nvSpPr>
          <p:cNvPr id="382" name="Google Shape;382;p40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graphicFrame>
        <p:nvGraphicFramePr>
          <p:cNvPr id="383" name="Google Shape;383;p40"/>
          <p:cNvGraphicFramePr/>
          <p:nvPr>
            <p:extLst>
              <p:ext uri="{D42A27DB-BD31-4B8C-83A1-F6EECF244321}">
                <p14:modId xmlns:p14="http://schemas.microsoft.com/office/powerpoint/2010/main" val="323750429"/>
              </p:ext>
            </p:extLst>
          </p:nvPr>
        </p:nvGraphicFramePr>
        <p:xfrm>
          <a:off x="74341" y="1330712"/>
          <a:ext cx="8995322" cy="2928348"/>
        </p:xfrm>
        <a:graphic>
          <a:graphicData uri="http://schemas.openxmlformats.org/drawingml/2006/table">
            <a:tbl>
              <a:tblPr>
                <a:noFill/>
                <a:tableStyleId>{5A3B0F86-60E2-4D67-AF58-C098A416A69F}</a:tableStyleId>
              </a:tblPr>
              <a:tblGrid>
                <a:gridCol w="219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8322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06874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Activity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Jan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Feb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Mar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Apr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May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Jun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8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2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3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4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2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3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4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2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3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4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2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3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4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2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3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4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2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3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4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Fabrication and Integration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Second Review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Prototype Designing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Model Testing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Third Review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Report Writing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Report Draft Submission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Final Documentation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Final Presentation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8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Final Report Submission</a:t>
                      </a:r>
                      <a:endParaRPr sz="1000" u="none" strike="noStrike" cap="none"/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CB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73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6BD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"/>
          <p:cNvSpPr txBox="1">
            <a:spLocks noGrp="1"/>
          </p:cNvSpPr>
          <p:nvPr>
            <p:ph type="title"/>
          </p:nvPr>
        </p:nvSpPr>
        <p:spPr>
          <a:xfrm>
            <a:off x="738125" y="486338"/>
            <a:ext cx="3861000" cy="5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400" b="1" dirty="0"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41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390" name="Google Shape;390;p41"/>
          <p:cNvSpPr txBox="1"/>
          <p:nvPr/>
        </p:nvSpPr>
        <p:spPr>
          <a:xfrm>
            <a:off x="738125" y="900069"/>
            <a:ext cx="8262600" cy="30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Dhingra1, S., &amp; Sharma2, M. (2019). Real-Time Vital Signs Monitoring System. </a:t>
            </a:r>
            <a:r>
              <a:rPr lang="en" sz="1100" i="1" dirty="0">
                <a:solidFill>
                  <a:schemeClr val="dk1"/>
                </a:solidFill>
              </a:rPr>
              <a:t>International Journal of Engineering Research &amp; Technology (IJERT)</a:t>
            </a:r>
            <a:r>
              <a:rPr lang="en" sz="1100" dirty="0">
                <a:solidFill>
                  <a:schemeClr val="dk1"/>
                </a:solidFill>
              </a:rPr>
              <a:t>, </a:t>
            </a:r>
            <a:r>
              <a:rPr lang="en" sz="1100" i="1" dirty="0">
                <a:solidFill>
                  <a:schemeClr val="dk1"/>
                </a:solidFill>
              </a:rPr>
              <a:t>8</a:t>
            </a:r>
            <a:r>
              <a:rPr lang="en" sz="1100" dirty="0">
                <a:solidFill>
                  <a:schemeClr val="dk1"/>
                </a:solidFill>
              </a:rPr>
              <a:t>(2278–018). </a:t>
            </a:r>
            <a:r>
              <a:rPr lang="en" sz="1100" u="sng" dirty="0">
                <a:solidFill>
                  <a:schemeClr val="hlink"/>
                </a:solidFill>
                <a:hlinkClick r:id="rId3"/>
              </a:rPr>
              <a:t>https://www.ijert.org/research/real-time-vital-signs-monitoring-system-IJERTV8IS060475.pdf</a:t>
            </a:r>
            <a:r>
              <a:rPr lang="en" sz="1100" dirty="0">
                <a:solidFill>
                  <a:schemeClr val="dk1"/>
                </a:solidFill>
              </a:rPr>
              <a:t> </a:t>
            </a:r>
            <a:endParaRPr sz="1100" dirty="0">
              <a:solidFill>
                <a:schemeClr val="dk1"/>
              </a:solidFill>
            </a:endParaRPr>
          </a:p>
          <a:p>
            <a:pPr marL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Patient Assessment and Vital Signs Measurement and Documentation. (2022). </a:t>
            </a:r>
            <a:r>
              <a:rPr lang="en" sz="1100" i="1" dirty="0">
                <a:solidFill>
                  <a:schemeClr val="dk1"/>
                </a:solidFill>
              </a:rPr>
              <a:t>AAST Technical Guideline</a:t>
            </a:r>
            <a:r>
              <a:rPr lang="en" sz="1100" dirty="0">
                <a:solidFill>
                  <a:schemeClr val="dk1"/>
                </a:solidFill>
              </a:rPr>
              <a:t>, 10. </a:t>
            </a:r>
            <a:r>
              <a:rPr lang="en" sz="1100" u="sng" dirty="0">
                <a:solidFill>
                  <a:schemeClr val="hlink"/>
                </a:solidFill>
                <a:hlinkClick r:id="rId4"/>
              </a:rPr>
              <a:t>https://aastweb.org/wp-content/uploads/2025/03/13.-Patient-Assessment-and-Vital-Signs-Measurement-and-Documentation.pdf</a:t>
            </a:r>
            <a:r>
              <a:rPr lang="en" sz="1100" dirty="0">
                <a:solidFill>
                  <a:schemeClr val="dk1"/>
                </a:solidFill>
              </a:rPr>
              <a:t> </a:t>
            </a:r>
            <a:endParaRPr sz="1100" dirty="0">
              <a:solidFill>
                <a:schemeClr val="dk1"/>
              </a:solidFill>
            </a:endParaRPr>
          </a:p>
          <a:p>
            <a:pPr marL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Patrick O, O., &amp; Kazeem A, M. (2020). Development, Implementation and Usage of an Automated Body Mass Index (ABMI) System. </a:t>
            </a:r>
            <a:r>
              <a:rPr lang="en" sz="1100" i="1" dirty="0">
                <a:solidFill>
                  <a:schemeClr val="dk1"/>
                </a:solidFill>
              </a:rPr>
              <a:t>Global Scientific Journals</a:t>
            </a:r>
            <a:r>
              <a:rPr lang="en" sz="1100" dirty="0">
                <a:solidFill>
                  <a:schemeClr val="dk1"/>
                </a:solidFill>
              </a:rPr>
              <a:t>, </a:t>
            </a:r>
            <a:r>
              <a:rPr lang="en" sz="1100" i="1" dirty="0">
                <a:solidFill>
                  <a:schemeClr val="dk1"/>
                </a:solidFill>
              </a:rPr>
              <a:t>8</a:t>
            </a:r>
            <a:r>
              <a:rPr lang="en" sz="1100" dirty="0">
                <a:solidFill>
                  <a:schemeClr val="dk1"/>
                </a:solidFill>
              </a:rPr>
              <a:t>(2320–9186). </a:t>
            </a:r>
            <a:r>
              <a:rPr lang="en" sz="1100" u="sng" dirty="0">
                <a:solidFill>
                  <a:schemeClr val="hlink"/>
                </a:solidFill>
                <a:hlinkClick r:id="rId5"/>
              </a:rPr>
              <a:t>https://www.globalscientificjournal.com/researchpaper/Development_Implementation_and_Usage_of_an_Automated_Body_Mass_Index_ABMI_System.pdf</a:t>
            </a:r>
            <a:r>
              <a:rPr lang="en" sz="1100" dirty="0">
                <a:solidFill>
                  <a:schemeClr val="dk1"/>
                </a:solidFill>
              </a:rPr>
              <a:t> </a:t>
            </a:r>
            <a:endParaRPr sz="1100" dirty="0">
              <a:solidFill>
                <a:schemeClr val="dk1"/>
              </a:solidFill>
            </a:endParaRPr>
          </a:p>
          <a:p>
            <a:pPr marL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Professional, C. C. M. (2025, May 7). </a:t>
            </a:r>
            <a:r>
              <a:rPr lang="en" sz="1100" i="1" dirty="0">
                <a:solidFill>
                  <a:schemeClr val="dk1"/>
                </a:solidFill>
              </a:rPr>
              <a:t>Vital signs</a:t>
            </a:r>
            <a:r>
              <a:rPr lang="en" sz="1100" dirty="0">
                <a:solidFill>
                  <a:schemeClr val="dk1"/>
                </a:solidFill>
              </a:rPr>
              <a:t>. Cleveland Clinic. https://my.clevelandclinic.org/health/articles/10881-vital-signs</a:t>
            </a:r>
            <a:endParaRPr sz="1100" dirty="0">
              <a:solidFill>
                <a:schemeClr val="dk1"/>
              </a:solidFill>
            </a:endParaRPr>
          </a:p>
          <a:p>
            <a:pPr marL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 dirty="0">
                <a:solidFill>
                  <a:schemeClr val="dk1"/>
                </a:solidFill>
              </a:rPr>
              <a:t>What is a good oxygen rate by age? Causes, symptoms &amp; chart</a:t>
            </a:r>
            <a:r>
              <a:rPr lang="en" sz="1100" dirty="0">
                <a:solidFill>
                  <a:schemeClr val="dk1"/>
                </a:solidFill>
              </a:rPr>
              <a:t>. (2021, October 26). eMedicineHealth. </a:t>
            </a:r>
            <a:r>
              <a:rPr lang="en" sz="1100" u="sng" dirty="0">
                <a:solidFill>
                  <a:schemeClr val="hlink"/>
                </a:solidFill>
                <a:hlinkClick r:id="rId6"/>
              </a:rPr>
              <a:t>https://www.emedicinehealth.com/what_is_a_good_oxygen_rate_by_age/article_em.htm</a:t>
            </a:r>
            <a:r>
              <a:rPr lang="en" sz="1100" dirty="0">
                <a:solidFill>
                  <a:schemeClr val="dk1"/>
                </a:solidFill>
              </a:rPr>
              <a:t> 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 txBox="1">
            <a:spLocks noGrp="1"/>
          </p:cNvSpPr>
          <p:nvPr>
            <p:ph type="title"/>
          </p:nvPr>
        </p:nvSpPr>
        <p:spPr>
          <a:xfrm>
            <a:off x="1249950" y="2155349"/>
            <a:ext cx="66441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4800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42"/>
          <p:cNvSpPr txBox="1">
            <a:spLocks noGrp="1"/>
          </p:cNvSpPr>
          <p:nvPr>
            <p:ph type="sldNum" idx="12"/>
          </p:nvPr>
        </p:nvSpPr>
        <p:spPr>
          <a:xfrm>
            <a:off x="7408984" y="4782989"/>
            <a:ext cx="110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2474</Words>
  <Application>Microsoft Office PowerPoint</Application>
  <PresentationFormat>On-screen Show (16:9)</PresentationFormat>
  <Paragraphs>639</Paragraphs>
  <Slides>35</Slides>
  <Notes>35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 Math</vt:lpstr>
      <vt:lpstr>Times New Roman</vt:lpstr>
      <vt:lpstr>Office Theme</vt:lpstr>
      <vt:lpstr>Basic Health Monitoring Station</vt:lpstr>
      <vt:lpstr>Table of Contents </vt:lpstr>
      <vt:lpstr>Introduction </vt:lpstr>
      <vt:lpstr>Background</vt:lpstr>
      <vt:lpstr>Problem Statement</vt:lpstr>
      <vt:lpstr>Aim and Objectives</vt:lpstr>
      <vt:lpstr>Literature Review</vt:lpstr>
      <vt:lpstr>Literature Review </vt:lpstr>
      <vt:lpstr>Literature Review</vt:lpstr>
      <vt:lpstr>Methodology</vt:lpstr>
      <vt:lpstr>System Overview</vt:lpstr>
      <vt:lpstr>System Model</vt:lpstr>
      <vt:lpstr>System Model</vt:lpstr>
      <vt:lpstr>System Flow Chart</vt:lpstr>
      <vt:lpstr>Process Flow Chart</vt:lpstr>
      <vt:lpstr>BMI= Weight(kg)/ [Height(m)]2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Bills of Material</vt:lpstr>
      <vt:lpstr>PowerPoint Presentation</vt:lpstr>
      <vt:lpstr>PowerPoint Presentation</vt:lpstr>
      <vt:lpstr>PowerPoint Presentation</vt:lpstr>
      <vt:lpstr>PowerPoint Presentation</vt:lpstr>
      <vt:lpstr>Total budget Calculation</vt:lpstr>
      <vt:lpstr>Power Consumption Table </vt:lpstr>
      <vt:lpstr>Power Consumption Table </vt:lpstr>
      <vt:lpstr>Total Power Requirement</vt:lpstr>
      <vt:lpstr>Expected Outcomes</vt:lpstr>
      <vt:lpstr>Work Plan (7th Semester)</vt:lpstr>
      <vt:lpstr>Work Plan (8th Semester)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Arun sanyasi</dc:creator>
  <cp:lastModifiedBy>Arun sanyasi</cp:lastModifiedBy>
  <cp:revision>9</cp:revision>
  <dcterms:modified xsi:type="dcterms:W3CDTF">2025-09-19T02:29:31Z</dcterms:modified>
</cp:coreProperties>
</file>